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7" r:id="rId2"/>
    <p:sldId id="264" r:id="rId3"/>
    <p:sldId id="274" r:id="rId4"/>
    <p:sldId id="271" r:id="rId5"/>
    <p:sldId id="272" r:id="rId6"/>
    <p:sldId id="259" r:id="rId7"/>
  </p:sldIdLst>
  <p:sldSz cx="12190413" cy="6858000"/>
  <p:notesSz cx="6797675" cy="9926638"/>
  <p:custDataLst>
    <p:tags r:id="rId10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A09B1AD-41C9-5B40-741D-A2EDD77C501B}" name="office" initials="oo" userId="S::75575@officed.top::fe64984c-748f-496b-bd79-93adb327efa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19A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23" autoAdjust="0"/>
    <p:restoredTop sz="94660"/>
  </p:normalViewPr>
  <p:slideViewPr>
    <p:cSldViewPr>
      <p:cViewPr varScale="1">
        <p:scale>
          <a:sx n="57" d="100"/>
          <a:sy n="57" d="100"/>
        </p:scale>
        <p:origin x="876" y="28"/>
      </p:cViewPr>
      <p:guideLst>
        <p:guide orient="horz" pos="2160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7" d="100"/>
          <a:sy n="67" d="100"/>
        </p:scale>
        <p:origin x="2748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8/10/relationships/authors" Target="authors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hangingPunct="0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fld id="{6E6CA374-CE27-4038-AC7B-C7C88223D294}" type="datetimeFigureOut">
              <a:rPr lang="zh-CN" altLang="en-US"/>
              <a:t>2025/4/14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sz="1200"/>
            </a:lvl1pPr>
          </a:lstStyle>
          <a:p>
            <a:pPr>
              <a:defRPr/>
            </a:pPr>
            <a:fld id="{EA28B1D8-63D4-4E05-95F4-A7E533659FDD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6110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hangingPunct="0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fld id="{37AA9BD0-7134-47AD-9666-4B4E51F4A409}" type="datetimeFigureOut">
              <a:rPr lang="zh-CN" altLang="en-US"/>
              <a:t>2025/4/14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sz="1200"/>
            </a:lvl1pPr>
          </a:lstStyle>
          <a:p>
            <a:pPr>
              <a:defRPr/>
            </a:pPr>
            <a:fld id="{264BD2DD-BF31-4F3E-808C-185F4AAE6769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186127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2BB76-F73C-6FB0-2A03-92CF68505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7E99C31-BF77-F94D-4977-AD9391A609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FCFA0BA-5265-7362-A56A-99DAE8CF89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E34324-EC0B-BE86-502F-C1A95420D2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4BD2DD-BF31-4F3E-808C-185F4AAE676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79129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64BD2DD-BF31-4F3E-808C-185F4AAE676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0962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281" y="2130426"/>
            <a:ext cx="10361851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562" y="3886200"/>
            <a:ext cx="8533289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4950C4-95B1-473D-BA0F-6B750542689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A3B1D5-6B4D-4D5A-B22E-E381F3C10BD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6901"/>
            <a:ext cx="1036185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6713"/>
            <a:ext cx="10361851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5125F8-855A-4A53-9E8F-E674C1F1120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201"/>
            <a:ext cx="53840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201"/>
            <a:ext cx="53840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53DC5C-9CF5-4723-AFBE-DC5ED6DB2D6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113"/>
            <a:ext cx="53862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4875"/>
            <a:ext cx="53862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1" y="1535113"/>
            <a:ext cx="538833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1" y="2174875"/>
            <a:ext cx="538833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E7E1EC-EBB9-45FB-8032-4BC68789EDE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288" y="141516"/>
            <a:ext cx="8610600" cy="381000"/>
          </a:xfrm>
        </p:spPr>
        <p:txBody>
          <a:bodyPr/>
          <a:lstStyle>
            <a:lvl1pPr algn="l"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345613" y="6477000"/>
            <a:ext cx="2844800" cy="381000"/>
          </a:xfrm>
        </p:spPr>
        <p:txBody>
          <a:bodyPr/>
          <a:lstStyle>
            <a:lvl1pPr>
              <a:defRPr sz="2000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FD87BCED-6C00-41A0-9FAE-AC08F0FDD3A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13ADCC-B09D-455F-AC51-4A4A480F064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21" y="273050"/>
            <a:ext cx="4010562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113" y="273051"/>
            <a:ext cx="681477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521" y="1435101"/>
            <a:ext cx="4010562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E92B87-9AA0-4C48-A99C-4ABAE0424FD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406" y="4800600"/>
            <a:ext cx="731424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406" y="612775"/>
            <a:ext cx="7314248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406" y="5367338"/>
            <a:ext cx="731424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01B3CB-1110-46FF-97AB-EB311B4EC76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64167C-1F14-42C7-9102-023123C9161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639"/>
            <a:ext cx="2742843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639"/>
            <a:ext cx="8025355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C9C5DC-7727-4C28-8A3B-557083EE904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121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1213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5921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6013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pPr>
              <a:defRPr/>
            </a:pPr>
            <a:fld id="{056A161C-2B7C-4D0A-BCF9-F6CF98721130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5.png"/><Relationship Id="rId7" Type="http://schemas.microsoft.com/office/2007/relationships/hdphoto" Target="../media/hdphoto2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0.png"/><Relationship Id="rId4" Type="http://schemas.microsoft.com/office/2007/relationships/hdphoto" Target="../media/hdphoto1.wdp"/><Relationship Id="rId9" Type="http://schemas.openxmlformats.org/officeDocument/2006/relationships/image" Target="../media/image9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package" Target="../embeddings/Microsoft_Excel_Worksheet1.xlsx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image" Target="../media/image15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14.png"/><Relationship Id="rId5" Type="http://schemas.openxmlformats.org/officeDocument/2006/relationships/image" Target="../media/image13.jpeg"/><Relationship Id="rId4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B4B0DC9-7AC4-4F09-87B0-46736CE7FC41}" type="slidenum">
              <a:rPr lang="en-US" altLang="zh-CN" sz="2000" smtClean="0">
                <a:solidFill>
                  <a:srgbClr val="A6A6A6"/>
                </a:solidFill>
                <a:latin typeface="微软雅黑" panose="020B0503020204020204" pitchFamily="34" charset="-122"/>
              </a:rPr>
              <a:t>1</a:t>
            </a:fld>
            <a:endParaRPr lang="en-US" altLang="zh-CN" sz="2000">
              <a:solidFill>
                <a:srgbClr val="A6A6A6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文本框 1"/>
          <p:cNvSpPr txBox="1"/>
          <p:nvPr/>
        </p:nvSpPr>
        <p:spPr>
          <a:xfrm>
            <a:off x="-1" y="914400"/>
            <a:ext cx="12190413" cy="988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altLang="zh-CN" sz="4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DY2501</a:t>
            </a:r>
            <a:r>
              <a:rPr lang="zh-CN" altLang="en-US" sz="4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曲轴包装方案及捆包报价</a:t>
            </a:r>
            <a:endParaRPr lang="en-US" altLang="zh-CN" sz="44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125" name="组合 8"/>
          <p:cNvGrpSpPr/>
          <p:nvPr/>
        </p:nvGrpSpPr>
        <p:grpSpPr bwMode="auto">
          <a:xfrm>
            <a:off x="304006" y="5676900"/>
            <a:ext cx="822325" cy="1028700"/>
            <a:chOff x="9399" y="1383"/>
            <a:chExt cx="1293" cy="1618"/>
          </a:xfrm>
        </p:grpSpPr>
        <p:pic>
          <p:nvPicPr>
            <p:cNvPr id="5126" name="图片 9" descr="密级B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07" y="1383"/>
              <a:ext cx="1016" cy="10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27" name="Text Box 6"/>
            <p:cNvSpPr txBox="1">
              <a:spLocks noChangeArrowheads="1"/>
            </p:cNvSpPr>
            <p:nvPr/>
          </p:nvSpPr>
          <p:spPr bwMode="auto">
            <a:xfrm>
              <a:off x="9399" y="2374"/>
              <a:ext cx="1293" cy="6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zh-CN" sz="1200">
                  <a:latin typeface="Calibri" panose="020F0502020204030204" pitchFamily="34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内部信息</a:t>
              </a:r>
              <a:endParaRPr lang="zh-CN" altLang="zh-CN" sz="1000"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-1" y="3837164"/>
            <a:ext cx="12190413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供应保证部生产管理科</a:t>
            </a:r>
            <a:endParaRPr lang="en-US" altLang="zh-CN" spc="3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defRPr/>
            </a:pPr>
            <a:r>
              <a:rPr lang="en-US" altLang="zh-CN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080148E-EBD2-508D-6C90-FE464BE0D6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6976590"/>
              </p:ext>
            </p:extLst>
          </p:nvPr>
        </p:nvGraphicFramePr>
        <p:xfrm>
          <a:off x="1087536" y="5361936"/>
          <a:ext cx="7141270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88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2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2561">
                  <a:extLst>
                    <a:ext uri="{9D8B030D-6E8A-4147-A177-3AD203B41FA5}">
                      <a16:colId xmlns:a16="http://schemas.microsoft.com/office/drawing/2014/main" val="768248043"/>
                    </a:ext>
                  </a:extLst>
                </a:gridCol>
                <a:gridCol w="12238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38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部长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科长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检技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系长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作成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760">
                <a:tc>
                  <a:txBody>
                    <a:bodyPr/>
                    <a:lstStyle/>
                    <a:p>
                      <a:pPr algn="ctr"/>
                      <a:endParaRPr lang="en-US" altLang="zh-CN" dirty="0"/>
                    </a:p>
                    <a:p>
                      <a:pPr algn="ctr"/>
                      <a:r>
                        <a:rPr lang="en-US" altLang="zh-CN" dirty="0"/>
                        <a:t>/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CN" dirty="0"/>
                    </a:p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报价依赖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87BCED-6C00-41A0-9FAE-AC08F0FDD3AD}" type="slidenum">
              <a:rPr lang="en-US" altLang="zh-CN" smtClean="0"/>
              <a:t>2</a:t>
            </a:fld>
            <a:endParaRPr lang="en-US" alt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DEA97F8-7F76-EEAA-C6D9-233A9FA5F2C1}"/>
              </a:ext>
            </a:extLst>
          </p:cNvPr>
          <p:cNvSpPr/>
          <p:nvPr/>
        </p:nvSpPr>
        <p:spPr>
          <a:xfrm>
            <a:off x="11428" y="6497638"/>
            <a:ext cx="12190413" cy="360362"/>
          </a:xfrm>
          <a:prstGeom prst="rect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defTabSz="457200">
              <a:defRPr/>
            </a:pPr>
            <a:r>
              <a:rPr lang="zh-CN" altLang="en-US" sz="20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收到赛力斯曲轴报价需求，折旧</a:t>
            </a:r>
            <a:r>
              <a:rPr lang="en-US" altLang="zh-CN" sz="20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14.4</a:t>
            </a:r>
            <a:r>
              <a:rPr lang="zh-CN" altLang="en-US" sz="20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万台</a:t>
            </a:r>
            <a:r>
              <a:rPr lang="en-US" altLang="zh-CN" sz="20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年，</a:t>
            </a:r>
            <a:r>
              <a:rPr lang="en-US" altLang="zh-CN" sz="20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0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0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72</a:t>
            </a:r>
            <a:r>
              <a:rPr lang="zh-CN" altLang="en-US" sz="20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万台</a:t>
            </a:r>
            <a:endParaRPr lang="en-US" altLang="zh-CN" sz="2000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1572510-D597-E273-9947-5095AF418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006" y="914400"/>
            <a:ext cx="5943600" cy="5045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186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01EAB-F0A4-1B26-4C9A-D85B908B6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FA584C-5713-4D7E-6C79-0C14D877C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741" y="87047"/>
            <a:ext cx="9437918" cy="454364"/>
          </a:xfrm>
        </p:spPr>
        <p:txBody>
          <a:bodyPr/>
          <a:lstStyle/>
          <a:p>
            <a:r>
              <a:rPr lang="zh-CN" altLang="en-US" dirty="0"/>
              <a:t>包装方案检讨</a:t>
            </a:r>
            <a:endParaRPr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9AA243C-973D-32DB-4371-670345E33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9356" y="6477000"/>
            <a:ext cx="2844800" cy="381000"/>
          </a:xfrm>
        </p:spPr>
        <p:txBody>
          <a:bodyPr/>
          <a:lstStyle/>
          <a:p>
            <a:pPr>
              <a:defRPr/>
            </a:pPr>
            <a:fld id="{FD87BCED-6C00-41A0-9FAE-AC08F0FDD3AD}" type="slidenum">
              <a:rPr lang="en-US" altLang="zh-CN" smtClean="0"/>
              <a:t>3</a:t>
            </a:fld>
            <a:endParaRPr lang="en-US" altLang="zh-CN"/>
          </a:p>
        </p:txBody>
      </p:sp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D031475F-5DC9-54D3-067F-90822438813A}"/>
              </a:ext>
            </a:extLst>
          </p:cNvPr>
          <p:cNvSpPr txBox="1">
            <a:spLocks/>
          </p:cNvSpPr>
          <p:nvPr/>
        </p:nvSpPr>
        <p:spPr bwMode="auto">
          <a:xfrm>
            <a:off x="9199356" y="6477000"/>
            <a:ext cx="28448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FD87BCED-6C00-41A0-9FAE-AC08F0FDD3AD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C9FF19F-BFC8-4559-F956-50DCEE5CB665}"/>
              </a:ext>
            </a:extLst>
          </p:cNvPr>
          <p:cNvSpPr/>
          <p:nvPr/>
        </p:nvSpPr>
        <p:spPr>
          <a:xfrm>
            <a:off x="11428" y="6497638"/>
            <a:ext cx="12190413" cy="360362"/>
          </a:xfrm>
          <a:prstGeom prst="rect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defTabSz="457200">
              <a:defRPr/>
            </a:pPr>
            <a:r>
              <a:rPr lang="en-US" altLang="zh-CN" sz="20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HG20T</a:t>
            </a:r>
            <a:r>
              <a:rPr lang="zh-CN" altLang="en-US" sz="20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曲轴总成包装数为 </a:t>
            </a:r>
            <a:r>
              <a:rPr lang="en-US" altLang="zh-CN" sz="20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52</a:t>
            </a:r>
            <a:r>
              <a:rPr lang="zh-CN" altLang="en-US" sz="20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件</a:t>
            </a:r>
            <a:r>
              <a:rPr lang="en-US" altLang="zh-CN" sz="20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箱</a:t>
            </a:r>
            <a:endParaRPr lang="en-US" altLang="zh-CN" sz="2000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104B3D47-9DB6-7B4B-E248-EC365DD21D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081121"/>
              </p:ext>
            </p:extLst>
          </p:nvPr>
        </p:nvGraphicFramePr>
        <p:xfrm>
          <a:off x="177224" y="2590800"/>
          <a:ext cx="4111591" cy="8229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13668">
                  <a:extLst>
                    <a:ext uri="{9D8B030D-6E8A-4147-A177-3AD203B41FA5}">
                      <a16:colId xmlns:a16="http://schemas.microsoft.com/office/drawing/2014/main" val="2089218674"/>
                    </a:ext>
                  </a:extLst>
                </a:gridCol>
                <a:gridCol w="819976">
                  <a:extLst>
                    <a:ext uri="{9D8B030D-6E8A-4147-A177-3AD203B41FA5}">
                      <a16:colId xmlns:a16="http://schemas.microsoft.com/office/drawing/2014/main" val="1158875703"/>
                    </a:ext>
                  </a:extLst>
                </a:gridCol>
                <a:gridCol w="825580">
                  <a:extLst>
                    <a:ext uri="{9D8B030D-6E8A-4147-A177-3AD203B41FA5}">
                      <a16:colId xmlns:a16="http://schemas.microsoft.com/office/drawing/2014/main" val="3192228113"/>
                    </a:ext>
                  </a:extLst>
                </a:gridCol>
                <a:gridCol w="825580">
                  <a:extLst>
                    <a:ext uri="{9D8B030D-6E8A-4147-A177-3AD203B41FA5}">
                      <a16:colId xmlns:a16="http://schemas.microsoft.com/office/drawing/2014/main" val="1833989604"/>
                    </a:ext>
                  </a:extLst>
                </a:gridCol>
                <a:gridCol w="826787">
                  <a:extLst>
                    <a:ext uri="{9D8B030D-6E8A-4147-A177-3AD203B41FA5}">
                      <a16:colId xmlns:a16="http://schemas.microsoft.com/office/drawing/2014/main" val="2005458129"/>
                    </a:ext>
                  </a:extLst>
                </a:gridCol>
              </a:tblGrid>
              <a:tr h="26026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部品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长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(mm)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宽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(mm)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高（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mm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重量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(kg)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8821558"/>
                  </a:ext>
                </a:extLst>
              </a:tr>
              <a:tr h="4424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HG20T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曲轴总成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440.5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166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166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16.54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134255"/>
                  </a:ext>
                </a:extLst>
              </a:tr>
            </a:tbl>
          </a:graphicData>
        </a:graphic>
      </p:graphicFrame>
      <p:sp>
        <p:nvSpPr>
          <p:cNvPr id="123" name="文本框 122">
            <a:extLst>
              <a:ext uri="{FF2B5EF4-FFF2-40B4-BE49-F238E27FC236}">
                <a16:creationId xmlns:a16="http://schemas.microsoft.com/office/drawing/2014/main" id="{82F8D712-B9E1-1277-9AE9-F5665A5B3C01}"/>
              </a:ext>
            </a:extLst>
          </p:cNvPr>
          <p:cNvSpPr txBox="1"/>
          <p:nvPr/>
        </p:nvSpPr>
        <p:spPr>
          <a:xfrm>
            <a:off x="8622667" y="3804617"/>
            <a:ext cx="3298908" cy="26395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可包装数：</a:t>
            </a:r>
            <a:endParaRPr lang="en-US" altLang="zh-CN" sz="1400" b="1" kern="0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r>
              <a:rPr lang="zh-CN" altLang="en-US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件</a:t>
            </a:r>
            <a:r>
              <a:rPr lang="en-US" altLang="zh-CN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  <a:r>
              <a:rPr lang="en-US" altLang="zh-CN" sz="1400" b="1" kern="0" dirty="0">
                <a:solidFill>
                  <a:srgbClr val="33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*4</a:t>
            </a:r>
            <a:r>
              <a:rPr lang="zh-CN" altLang="en-US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  <a:r>
              <a:rPr lang="en-US" altLang="zh-CN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-4</a:t>
            </a:r>
            <a:r>
              <a:rPr lang="zh-CN" altLang="en-US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件</a:t>
            </a:r>
            <a:r>
              <a:rPr lang="en-US" altLang="zh-CN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52</a:t>
            </a:r>
            <a:r>
              <a:rPr lang="zh-CN" altLang="en-US" sz="14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件（承重要求）</a:t>
            </a:r>
            <a:endParaRPr lang="en-US" altLang="zh-CN" sz="1400" b="1" kern="0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重量：</a:t>
            </a:r>
            <a:endParaRPr lang="en-US" altLang="zh-CN" sz="1400" b="1" kern="0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  <a:r>
              <a:rPr lang="zh-CN" altLang="en-US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单件零件重量：</a:t>
            </a:r>
            <a:r>
              <a:rPr lang="en-US" altLang="zh-CN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16.54</a:t>
            </a:r>
            <a:r>
              <a:rPr lang="zh-CN" altLang="en-US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kg</a:t>
            </a:r>
            <a:r>
              <a:rPr lang="zh-CN" altLang="en-US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4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</a:t>
            </a:r>
            <a:r>
              <a:rPr lang="zh-CN" altLang="en-US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单层包材重量：</a:t>
            </a:r>
            <a:r>
              <a:rPr lang="en-US" altLang="zh-CN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3.22</a:t>
            </a:r>
            <a:r>
              <a:rPr lang="zh-CN" altLang="en-US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kg</a:t>
            </a:r>
            <a:r>
              <a:rPr lang="zh-CN" altLang="en-US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400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</a:t>
            </a:r>
            <a:r>
              <a:rPr lang="zh-CN" altLang="en-US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料笼重量：</a:t>
            </a:r>
            <a:r>
              <a:rPr lang="en-US" altLang="zh-CN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120</a:t>
            </a:r>
            <a:r>
              <a:rPr lang="zh-CN" altLang="en-US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kg</a:t>
            </a:r>
            <a:r>
              <a:rPr lang="zh-CN" altLang="en-US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400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④总重量：</a:t>
            </a:r>
            <a:r>
              <a:rPr lang="en-US" altLang="zh-CN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16.54*52+3.22*4+120=992.96</a:t>
            </a:r>
            <a:r>
              <a:rPr lang="zh-CN" altLang="en-US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kg</a:t>
            </a:r>
            <a:r>
              <a:rPr lang="zh-CN" altLang="en-US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400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8AC20C94-4AAF-1EDD-5A90-BD370DEB19DA}"/>
              </a:ext>
            </a:extLst>
          </p:cNvPr>
          <p:cNvSpPr txBox="1"/>
          <p:nvPr/>
        </p:nvSpPr>
        <p:spPr>
          <a:xfrm>
            <a:off x="-373081" y="3446789"/>
            <a:ext cx="2241760" cy="432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b="1" dirty="0">
                <a:latin typeface="宋体" panose="02010600030101010101" pitchFamily="2" charset="-122"/>
              </a:rPr>
              <a:t>每层排样方式</a:t>
            </a:r>
          </a:p>
        </p:txBody>
      </p:sp>
      <p:sp>
        <p:nvSpPr>
          <p:cNvPr id="369" name="文本框 368">
            <a:extLst>
              <a:ext uri="{FF2B5EF4-FFF2-40B4-BE49-F238E27FC236}">
                <a16:creationId xmlns:a16="http://schemas.microsoft.com/office/drawing/2014/main" id="{5DB31BC8-0DAC-0009-A77D-6D67B8E712B2}"/>
              </a:ext>
            </a:extLst>
          </p:cNvPr>
          <p:cNvSpPr txBox="1"/>
          <p:nvPr/>
        </p:nvSpPr>
        <p:spPr>
          <a:xfrm>
            <a:off x="4288815" y="3466016"/>
            <a:ext cx="1559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宋体" panose="02010600030101010101" pitchFamily="2" charset="-122"/>
              </a:rPr>
              <a:t>每箱可装层数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02FE3F2-C7B7-DD65-EBF9-CECB25E62485}"/>
              </a:ext>
            </a:extLst>
          </p:cNvPr>
          <p:cNvSpPr txBox="1"/>
          <p:nvPr/>
        </p:nvSpPr>
        <p:spPr>
          <a:xfrm>
            <a:off x="3961606" y="4648200"/>
            <a:ext cx="461665" cy="118752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 意 图</a:t>
            </a:r>
          </a:p>
        </p:txBody>
      </p:sp>
      <p:sp>
        <p:nvSpPr>
          <p:cNvPr id="103" name="矩形: 圆角 102">
            <a:extLst>
              <a:ext uri="{FF2B5EF4-FFF2-40B4-BE49-F238E27FC236}">
                <a16:creationId xmlns:a16="http://schemas.microsoft.com/office/drawing/2014/main" id="{16FF04D9-4C3E-201A-249C-F25CDC811B32}"/>
              </a:ext>
            </a:extLst>
          </p:cNvPr>
          <p:cNvSpPr/>
          <p:nvPr/>
        </p:nvSpPr>
        <p:spPr bwMode="auto">
          <a:xfrm>
            <a:off x="5496553" y="5943600"/>
            <a:ext cx="1529502" cy="491924"/>
          </a:xfrm>
          <a:prstGeom prst="roundRect">
            <a:avLst/>
          </a:prstGeom>
          <a:solidFill>
            <a:schemeClr val="accent1">
              <a:alpha val="7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单箱：</a:t>
            </a:r>
            <a:r>
              <a:rPr lang="en-US" altLang="zh-CN" dirty="0"/>
              <a:t>4</a:t>
            </a:r>
            <a:r>
              <a:rPr lang="zh-CN" altLang="en-US" dirty="0"/>
              <a:t>层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60EC7EFA-1C07-9E01-BC18-2DE9B0B1F63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138" t="12753" r="11208" b="7816"/>
          <a:stretch/>
        </p:blipFill>
        <p:spPr>
          <a:xfrm>
            <a:off x="5009131" y="4120210"/>
            <a:ext cx="2285681" cy="1714261"/>
          </a:xfrm>
          <a:prstGeom prst="rect">
            <a:avLst/>
          </a:prstGeom>
        </p:spPr>
      </p:pic>
      <p:sp>
        <p:nvSpPr>
          <p:cNvPr id="102" name="矩形: 圆角 101">
            <a:extLst>
              <a:ext uri="{FF2B5EF4-FFF2-40B4-BE49-F238E27FC236}">
                <a16:creationId xmlns:a16="http://schemas.microsoft.com/office/drawing/2014/main" id="{BD6CA8A1-9B13-E701-FCDD-150E139E3E8A}"/>
              </a:ext>
            </a:extLst>
          </p:cNvPr>
          <p:cNvSpPr/>
          <p:nvPr/>
        </p:nvSpPr>
        <p:spPr bwMode="auto">
          <a:xfrm>
            <a:off x="1441504" y="5943600"/>
            <a:ext cx="1529502" cy="491925"/>
          </a:xfrm>
          <a:prstGeom prst="roundRect">
            <a:avLst/>
          </a:prstGeom>
          <a:solidFill>
            <a:schemeClr val="accent1">
              <a:alpha val="7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单层：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14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件</a:t>
            </a:r>
          </a:p>
        </p:txBody>
      </p:sp>
      <p:pic>
        <p:nvPicPr>
          <p:cNvPr id="11" name="图片 10" descr="图示, 工程绘图&#10;&#10;AI 生成的内容可能不正确。">
            <a:extLst>
              <a:ext uri="{FF2B5EF4-FFF2-40B4-BE49-F238E27FC236}">
                <a16:creationId xmlns:a16="http://schemas.microsoft.com/office/drawing/2014/main" id="{161AC9A1-4058-30F0-833A-FDD9BAB3DFF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749" y="942771"/>
            <a:ext cx="3536097" cy="150539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38BCF91-C793-7FD4-E2D1-11DA9AE58DB2}"/>
              </a:ext>
            </a:extLst>
          </p:cNvPr>
          <p:cNvSpPr txBox="1"/>
          <p:nvPr/>
        </p:nvSpPr>
        <p:spPr>
          <a:xfrm>
            <a:off x="4037806" y="523137"/>
            <a:ext cx="32206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宋体" panose="02010600030101010101" pitchFamily="2" charset="-122"/>
              </a:rPr>
              <a:t>岚图通用金属铁框</a:t>
            </a:r>
            <a:r>
              <a:rPr lang="en-US" altLang="zh-CN" sz="1600" b="1" dirty="0">
                <a:latin typeface="宋体" panose="02010600030101010101" pitchFamily="2" charset="-122"/>
              </a:rPr>
              <a:t>J1310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84CC53F-9B95-88E0-4311-F4AC4FC87C01}"/>
              </a:ext>
            </a:extLst>
          </p:cNvPr>
          <p:cNvSpPr txBox="1"/>
          <p:nvPr/>
        </p:nvSpPr>
        <p:spPr>
          <a:xfrm>
            <a:off x="8616853" y="2735604"/>
            <a:ext cx="3427303" cy="74417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包装物流信息：</a:t>
            </a:r>
            <a:endParaRPr lang="en-US" altLang="zh-CN" sz="1400" b="1" kern="0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4572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物流：送货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DHAC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→客户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4572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包装：使用</a:t>
            </a:r>
            <a:r>
              <a:rPr lang="zh-CN" altLang="en-US" sz="1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赛力斯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建议的</a:t>
            </a:r>
            <a:r>
              <a:rPr lang="zh-CN" altLang="en-US" sz="1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岚图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金属铁框</a:t>
            </a:r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5BBBCD8A-4C4B-9DFA-40F0-BABFFAFD25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9115323"/>
              </p:ext>
            </p:extLst>
          </p:nvPr>
        </p:nvGraphicFramePr>
        <p:xfrm>
          <a:off x="4403895" y="2622387"/>
          <a:ext cx="4129259" cy="75262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00711">
                  <a:extLst>
                    <a:ext uri="{9D8B030D-6E8A-4147-A177-3AD203B41FA5}">
                      <a16:colId xmlns:a16="http://schemas.microsoft.com/office/drawing/2014/main" val="208921867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1588757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192228113"/>
                    </a:ext>
                  </a:extLst>
                </a:gridCol>
                <a:gridCol w="836517">
                  <a:extLst>
                    <a:ext uri="{9D8B030D-6E8A-4147-A177-3AD203B41FA5}">
                      <a16:colId xmlns:a16="http://schemas.microsoft.com/office/drawing/2014/main" val="2700754590"/>
                    </a:ext>
                  </a:extLst>
                </a:gridCol>
                <a:gridCol w="915631">
                  <a:extLst>
                    <a:ext uri="{9D8B030D-6E8A-4147-A177-3AD203B41FA5}">
                      <a16:colId xmlns:a16="http://schemas.microsoft.com/office/drawing/2014/main" val="2564304899"/>
                    </a:ext>
                  </a:extLst>
                </a:gridCol>
              </a:tblGrid>
              <a:tr h="38198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容器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内长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(mm)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内宽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(mm)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内高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(mm)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重量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(kg)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8821558"/>
                  </a:ext>
                </a:extLst>
              </a:tr>
              <a:tr h="37063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料笼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1310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1120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950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134255"/>
                  </a:ext>
                </a:extLst>
              </a:tr>
            </a:tbl>
          </a:graphicData>
        </a:graphic>
      </p:graphicFrame>
      <p:pic>
        <p:nvPicPr>
          <p:cNvPr id="23" name="图片 22">
            <a:extLst>
              <a:ext uri="{FF2B5EF4-FFF2-40B4-BE49-F238E27FC236}">
                <a16:creationId xmlns:a16="http://schemas.microsoft.com/office/drawing/2014/main" id="{4A9C4A70-F870-8467-B631-3FB7579FAED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943" b="89773" l="9933" r="91246"/>
                    </a14:imgEffect>
                  </a14:imgLayer>
                </a14:imgProps>
              </a:ext>
            </a:extLst>
          </a:blip>
          <a:srcRect l="13468" t="6819" r="7071" b="11363"/>
          <a:stretch/>
        </p:blipFill>
        <p:spPr>
          <a:xfrm>
            <a:off x="5104606" y="857054"/>
            <a:ext cx="2514600" cy="1733745"/>
          </a:xfrm>
          <a:prstGeom prst="rect">
            <a:avLst/>
          </a:prstGeom>
        </p:spPr>
      </p:pic>
      <p:grpSp>
        <p:nvGrpSpPr>
          <p:cNvPr id="24" name="组合 23">
            <a:extLst>
              <a:ext uri="{FF2B5EF4-FFF2-40B4-BE49-F238E27FC236}">
                <a16:creationId xmlns:a16="http://schemas.microsoft.com/office/drawing/2014/main" id="{DF17FC58-85D1-DC23-B43E-CE98ECFFE806}"/>
              </a:ext>
            </a:extLst>
          </p:cNvPr>
          <p:cNvGrpSpPr/>
          <p:nvPr/>
        </p:nvGrpSpPr>
        <p:grpSpPr>
          <a:xfrm>
            <a:off x="8738472" y="705427"/>
            <a:ext cx="2688713" cy="1978185"/>
            <a:chOff x="8646187" y="704230"/>
            <a:chExt cx="2688713" cy="1978185"/>
          </a:xfrm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6E6F39D2-51FD-BCA6-B7C0-F0277DBE7236}"/>
                </a:ext>
              </a:extLst>
            </p:cNvPr>
            <p:cNvGrpSpPr/>
            <p:nvPr/>
          </p:nvGrpSpPr>
          <p:grpSpPr>
            <a:xfrm>
              <a:off x="8646187" y="704230"/>
              <a:ext cx="2688713" cy="1978185"/>
              <a:chOff x="9364852" y="838200"/>
              <a:chExt cx="2688713" cy="1978185"/>
            </a:xfrm>
          </p:grpSpPr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8E4080DC-837C-3BD8-B7C9-8F07A8ECFADD}"/>
                  </a:ext>
                </a:extLst>
              </p:cNvPr>
              <p:cNvSpPr txBox="1"/>
              <p:nvPr/>
            </p:nvSpPr>
            <p:spPr>
              <a:xfrm>
                <a:off x="9364852" y="883096"/>
                <a:ext cx="268871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zh-CN" altLang="en-US" sz="1600" b="1" u="sng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出荷</a:t>
                </a:r>
                <a:r>
                  <a:rPr lang="en-US" altLang="zh-CN" sz="1600" b="1" u="sng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-&gt;</a:t>
                </a:r>
                <a:r>
                  <a:rPr lang="zh-CN" altLang="en-US" sz="1600" b="1" u="sng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上线仕样</a:t>
                </a:r>
              </a:p>
            </p:txBody>
          </p:sp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76C28106-E758-429D-730C-BE89D77E59A6}"/>
                  </a:ext>
                </a:extLst>
              </p:cNvPr>
              <p:cNvSpPr/>
              <p:nvPr/>
            </p:nvSpPr>
            <p:spPr bwMode="auto">
              <a:xfrm>
                <a:off x="9364852" y="838200"/>
                <a:ext cx="2660524" cy="1978185"/>
              </a:xfrm>
              <a:prstGeom prst="rect">
                <a:avLst/>
              </a:prstGeom>
              <a:noFill/>
              <a:ln w="28575" cap="flat" cmpd="sng" algn="ctr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1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43F1B67F-7559-8611-8C4D-0C9DA895A935}"/>
                  </a:ext>
                </a:extLst>
              </p:cNvPr>
              <p:cNvSpPr txBox="1"/>
              <p:nvPr/>
            </p:nvSpPr>
            <p:spPr>
              <a:xfrm>
                <a:off x="9504161" y="2186905"/>
                <a:ext cx="1050839" cy="46166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岚图通用金属铁框</a:t>
                </a:r>
              </a:p>
            </p:txBody>
          </p:sp>
          <p:sp>
            <p:nvSpPr>
              <p:cNvPr id="56" name="右箭头 7">
                <a:extLst>
                  <a:ext uri="{FF2B5EF4-FFF2-40B4-BE49-F238E27FC236}">
                    <a16:creationId xmlns:a16="http://schemas.microsoft.com/office/drawing/2014/main" id="{18296199-0726-04E2-61AB-53F9AE795141}"/>
                  </a:ext>
                </a:extLst>
              </p:cNvPr>
              <p:cNvSpPr/>
              <p:nvPr/>
            </p:nvSpPr>
            <p:spPr>
              <a:xfrm>
                <a:off x="10562618" y="1476235"/>
                <a:ext cx="293183" cy="310636"/>
              </a:xfrm>
              <a:prstGeom prst="rightArrow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endPara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57" name="图片 56">
                <a:extLst>
                  <a:ext uri="{FF2B5EF4-FFF2-40B4-BE49-F238E27FC236}">
                    <a16:creationId xmlns:a16="http://schemas.microsoft.com/office/drawing/2014/main" id="{181EBAC0-9217-73D1-7060-EED3A3CADC0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12" t="13333"/>
              <a:stretch/>
            </p:blipFill>
            <p:spPr>
              <a:xfrm>
                <a:off x="9468317" y="1270617"/>
                <a:ext cx="984521" cy="854871"/>
              </a:xfrm>
              <a:prstGeom prst="rect">
                <a:avLst/>
              </a:prstGeom>
            </p:spPr>
          </p:pic>
          <p:pic>
            <p:nvPicPr>
              <p:cNvPr id="58" name="图片 57">
                <a:extLst>
                  <a:ext uri="{FF2B5EF4-FFF2-40B4-BE49-F238E27FC236}">
                    <a16:creationId xmlns:a16="http://schemas.microsoft.com/office/drawing/2014/main" id="{EAC53163-5764-D2E0-C782-94767F63265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12" t="13333"/>
              <a:stretch/>
            </p:blipFill>
            <p:spPr>
              <a:xfrm>
                <a:off x="10896946" y="1274688"/>
                <a:ext cx="984521" cy="854871"/>
              </a:xfrm>
              <a:prstGeom prst="rect">
                <a:avLst/>
              </a:prstGeom>
            </p:spPr>
          </p:pic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8BDD43FC-C051-6D43-2117-96C22BAA980C}"/>
                  </a:ext>
                </a:extLst>
              </p:cNvPr>
              <p:cNvSpPr txBox="1"/>
              <p:nvPr/>
            </p:nvSpPr>
            <p:spPr>
              <a:xfrm>
                <a:off x="10861912" y="2186905"/>
                <a:ext cx="1050839" cy="46166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岚图通用金属铁框</a:t>
                </a:r>
              </a:p>
            </p:txBody>
          </p:sp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552E3697-3030-110F-8E71-814012BC4CD7}"/>
                  </a:ext>
                </a:extLst>
              </p:cNvPr>
              <p:cNvSpPr txBox="1"/>
              <p:nvPr/>
            </p:nvSpPr>
            <p:spPr>
              <a:xfrm>
                <a:off x="10896946" y="2186905"/>
                <a:ext cx="1050839" cy="46166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岚图通用金属铁框</a:t>
                </a:r>
              </a:p>
            </p:txBody>
          </p:sp>
        </p:grpSp>
        <p:pic>
          <p:nvPicPr>
            <p:cNvPr id="47" name="图片 46">
              <a:extLst>
                <a:ext uri="{FF2B5EF4-FFF2-40B4-BE49-F238E27FC236}">
                  <a16:creationId xmlns:a16="http://schemas.microsoft.com/office/drawing/2014/main" id="{6CB1E855-0118-0422-B9AF-95095D19603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30204" y="1109338"/>
              <a:ext cx="1073576" cy="890145"/>
            </a:xfrm>
            <a:prstGeom prst="rect">
              <a:avLst/>
            </a:prstGeom>
          </p:spPr>
        </p:pic>
        <p:pic>
          <p:nvPicPr>
            <p:cNvPr id="49" name="图片 48">
              <a:extLst>
                <a:ext uri="{FF2B5EF4-FFF2-40B4-BE49-F238E27FC236}">
                  <a16:creationId xmlns:a16="http://schemas.microsoft.com/office/drawing/2014/main" id="{08B51B5A-5993-2B36-3FAE-BDD53D1D50E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29670" y="1110626"/>
              <a:ext cx="1073576" cy="909488"/>
            </a:xfrm>
            <a:prstGeom prst="rect">
              <a:avLst/>
            </a:prstGeom>
          </p:spPr>
        </p:pic>
      </p:grpSp>
      <p:sp>
        <p:nvSpPr>
          <p:cNvPr id="91" name="文本框 90">
            <a:extLst>
              <a:ext uri="{FF2B5EF4-FFF2-40B4-BE49-F238E27FC236}">
                <a16:creationId xmlns:a16="http://schemas.microsoft.com/office/drawing/2014/main" id="{B9262064-266E-053C-9C8A-4775B904DC06}"/>
              </a:ext>
            </a:extLst>
          </p:cNvPr>
          <p:cNvSpPr txBox="1"/>
          <p:nvPr/>
        </p:nvSpPr>
        <p:spPr>
          <a:xfrm>
            <a:off x="113151" y="523137"/>
            <a:ext cx="19372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宋体" panose="02010600030101010101" pitchFamily="2" charset="-122"/>
              </a:rPr>
              <a:t>HG20T</a:t>
            </a:r>
            <a:r>
              <a:rPr lang="zh-CN" altLang="en-US" sz="1600" b="1" dirty="0">
                <a:latin typeface="宋体" panose="02010600030101010101" pitchFamily="2" charset="-122"/>
              </a:rPr>
              <a:t>曲轴</a:t>
            </a:r>
            <a:r>
              <a:rPr lang="en-US" altLang="zh-CN" sz="1600" b="1" dirty="0">
                <a:latin typeface="宋体" panose="02010600030101010101" pitchFamily="2" charset="-122"/>
              </a:rPr>
              <a:t>+</a:t>
            </a:r>
            <a:r>
              <a:rPr lang="zh-CN" altLang="en-US" sz="1600" b="1" dirty="0">
                <a:latin typeface="宋体" panose="02010600030101010101" pitchFamily="2" charset="-122"/>
              </a:rPr>
              <a:t>齿圈</a:t>
            </a:r>
          </a:p>
        </p:txBody>
      </p: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87F83BE9-1B8E-8CF5-3B66-2FC680C45E5C}"/>
              </a:ext>
            </a:extLst>
          </p:cNvPr>
          <p:cNvGrpSpPr/>
          <p:nvPr/>
        </p:nvGrpSpPr>
        <p:grpSpPr>
          <a:xfrm>
            <a:off x="837406" y="3943920"/>
            <a:ext cx="2488299" cy="1920243"/>
            <a:chOff x="1263096" y="1981200"/>
            <a:chExt cx="3079510" cy="2566888"/>
          </a:xfrm>
        </p:grpSpPr>
        <p:grpSp>
          <p:nvGrpSpPr>
            <p:cNvPr id="93" name="组合 92">
              <a:extLst>
                <a:ext uri="{FF2B5EF4-FFF2-40B4-BE49-F238E27FC236}">
                  <a16:creationId xmlns:a16="http://schemas.microsoft.com/office/drawing/2014/main" id="{67F74529-1D7E-3737-0E48-53A51C6A8E2C}"/>
                </a:ext>
              </a:extLst>
            </p:cNvPr>
            <p:cNvGrpSpPr/>
            <p:nvPr/>
          </p:nvGrpSpPr>
          <p:grpSpPr>
            <a:xfrm>
              <a:off x="1357403" y="2073137"/>
              <a:ext cx="2959107" cy="2474951"/>
              <a:chOff x="1555697" y="2072302"/>
              <a:chExt cx="2959107" cy="2474951"/>
            </a:xfrm>
          </p:grpSpPr>
          <p:sp>
            <p:nvSpPr>
              <p:cNvPr id="98" name="矩形: 圆角 97">
                <a:extLst>
                  <a:ext uri="{FF2B5EF4-FFF2-40B4-BE49-F238E27FC236}">
                    <a16:creationId xmlns:a16="http://schemas.microsoft.com/office/drawing/2014/main" id="{664A1703-675C-AD1F-6BDB-314BCDD363F0}"/>
                  </a:ext>
                </a:extLst>
              </p:cNvPr>
              <p:cNvSpPr/>
              <p:nvPr/>
            </p:nvSpPr>
            <p:spPr bwMode="auto">
              <a:xfrm>
                <a:off x="1555697" y="2072302"/>
                <a:ext cx="2959107" cy="2474951"/>
              </a:xfrm>
              <a:prstGeom prst="round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highlight>
                    <a:srgbClr val="00FFFF"/>
                  </a:highlight>
                  <a:latin typeface="Arial" panose="020B0604020202020204" pitchFamily="34" charset="0"/>
                </a:endParaRPr>
              </a:p>
            </p:txBody>
          </p:sp>
          <p:pic>
            <p:nvPicPr>
              <p:cNvPr id="99" name="图片 98">
                <a:extLst>
                  <a:ext uri="{FF2B5EF4-FFF2-40B4-BE49-F238E27FC236}">
                    <a16:creationId xmlns:a16="http://schemas.microsoft.com/office/drawing/2014/main" id="{29825D1C-245C-707E-A70F-C5165018D0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1372" b="31195"/>
              <a:stretch/>
            </p:blipFill>
            <p:spPr>
              <a:xfrm rot="5400000">
                <a:off x="1867308" y="2596559"/>
                <a:ext cx="815368" cy="446300"/>
              </a:xfrm>
              <a:prstGeom prst="rect">
                <a:avLst/>
              </a:prstGeom>
            </p:spPr>
          </p:pic>
          <p:pic>
            <p:nvPicPr>
              <p:cNvPr id="100" name="图片 99">
                <a:extLst>
                  <a:ext uri="{FF2B5EF4-FFF2-40B4-BE49-F238E27FC236}">
                    <a16:creationId xmlns:a16="http://schemas.microsoft.com/office/drawing/2014/main" id="{17C20D4D-09DC-5728-818A-093797D137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1372" b="31195"/>
              <a:stretch/>
            </p:blipFill>
            <p:spPr>
              <a:xfrm rot="5400000">
                <a:off x="1867308" y="3615165"/>
                <a:ext cx="815368" cy="446300"/>
              </a:xfrm>
              <a:prstGeom prst="rect">
                <a:avLst/>
              </a:prstGeom>
            </p:spPr>
          </p:pic>
          <p:pic>
            <p:nvPicPr>
              <p:cNvPr id="101" name="图片 100">
                <a:extLst>
                  <a:ext uri="{FF2B5EF4-FFF2-40B4-BE49-F238E27FC236}">
                    <a16:creationId xmlns:a16="http://schemas.microsoft.com/office/drawing/2014/main" id="{107D9B3C-95A4-CB91-922B-662586C1F3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1372" b="31195"/>
              <a:stretch/>
            </p:blipFill>
            <p:spPr>
              <a:xfrm rot="5400000">
                <a:off x="2245128" y="2596559"/>
                <a:ext cx="815368" cy="446300"/>
              </a:xfrm>
              <a:prstGeom prst="rect">
                <a:avLst/>
              </a:prstGeom>
            </p:spPr>
          </p:pic>
          <p:pic>
            <p:nvPicPr>
              <p:cNvPr id="104" name="图片 103">
                <a:extLst>
                  <a:ext uri="{FF2B5EF4-FFF2-40B4-BE49-F238E27FC236}">
                    <a16:creationId xmlns:a16="http://schemas.microsoft.com/office/drawing/2014/main" id="{0CACA7F9-1016-392A-2E16-3107836EB1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1372" b="31195"/>
              <a:stretch/>
            </p:blipFill>
            <p:spPr>
              <a:xfrm rot="5400000">
                <a:off x="2245128" y="3615165"/>
                <a:ext cx="815368" cy="446300"/>
              </a:xfrm>
              <a:prstGeom prst="rect">
                <a:avLst/>
              </a:prstGeom>
            </p:spPr>
          </p:pic>
          <p:pic>
            <p:nvPicPr>
              <p:cNvPr id="105" name="图片 104">
                <a:extLst>
                  <a:ext uri="{FF2B5EF4-FFF2-40B4-BE49-F238E27FC236}">
                    <a16:creationId xmlns:a16="http://schemas.microsoft.com/office/drawing/2014/main" id="{630D3459-A898-05CB-B5B4-8F9E011F87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1372" b="31195"/>
              <a:stretch/>
            </p:blipFill>
            <p:spPr>
              <a:xfrm rot="5400000">
                <a:off x="2622346" y="2596559"/>
                <a:ext cx="815368" cy="446300"/>
              </a:xfrm>
              <a:prstGeom prst="rect">
                <a:avLst/>
              </a:prstGeom>
            </p:spPr>
          </p:pic>
          <p:pic>
            <p:nvPicPr>
              <p:cNvPr id="106" name="图片 105">
                <a:extLst>
                  <a:ext uri="{FF2B5EF4-FFF2-40B4-BE49-F238E27FC236}">
                    <a16:creationId xmlns:a16="http://schemas.microsoft.com/office/drawing/2014/main" id="{692B4EF4-4F3C-95C4-49D0-F131D48E1A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1372" b="31195"/>
              <a:stretch/>
            </p:blipFill>
            <p:spPr>
              <a:xfrm rot="5400000">
                <a:off x="2622346" y="3615165"/>
                <a:ext cx="815368" cy="446300"/>
              </a:xfrm>
              <a:prstGeom prst="rect">
                <a:avLst/>
              </a:prstGeom>
            </p:spPr>
          </p:pic>
          <p:pic>
            <p:nvPicPr>
              <p:cNvPr id="107" name="图片 106">
                <a:extLst>
                  <a:ext uri="{FF2B5EF4-FFF2-40B4-BE49-F238E27FC236}">
                    <a16:creationId xmlns:a16="http://schemas.microsoft.com/office/drawing/2014/main" id="{4EA7288D-8EFE-41EC-3C3A-CAF64B0A43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1372" b="31195"/>
              <a:stretch/>
            </p:blipFill>
            <p:spPr>
              <a:xfrm rot="5400000">
                <a:off x="2999565" y="2596559"/>
                <a:ext cx="815368" cy="446300"/>
              </a:xfrm>
              <a:prstGeom prst="rect">
                <a:avLst/>
              </a:prstGeom>
            </p:spPr>
          </p:pic>
          <p:pic>
            <p:nvPicPr>
              <p:cNvPr id="108" name="图片 107">
                <a:extLst>
                  <a:ext uri="{FF2B5EF4-FFF2-40B4-BE49-F238E27FC236}">
                    <a16:creationId xmlns:a16="http://schemas.microsoft.com/office/drawing/2014/main" id="{F66B1DAE-FF45-9C0A-27BC-FF9F4FF81D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1372" b="31195"/>
              <a:stretch/>
            </p:blipFill>
            <p:spPr>
              <a:xfrm rot="5400000">
                <a:off x="2999565" y="3615165"/>
                <a:ext cx="815368" cy="446300"/>
              </a:xfrm>
              <a:prstGeom prst="rect">
                <a:avLst/>
              </a:prstGeom>
            </p:spPr>
          </p:pic>
          <p:pic>
            <p:nvPicPr>
              <p:cNvPr id="109" name="图片 108">
                <a:extLst>
                  <a:ext uri="{FF2B5EF4-FFF2-40B4-BE49-F238E27FC236}">
                    <a16:creationId xmlns:a16="http://schemas.microsoft.com/office/drawing/2014/main" id="{FBFE992B-96BA-AA8B-DCDB-57C27963E6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1372" b="31195"/>
              <a:stretch/>
            </p:blipFill>
            <p:spPr>
              <a:xfrm rot="5400000">
                <a:off x="3376785" y="2596559"/>
                <a:ext cx="815368" cy="446300"/>
              </a:xfrm>
              <a:prstGeom prst="rect">
                <a:avLst/>
              </a:prstGeom>
            </p:spPr>
          </p:pic>
          <p:pic>
            <p:nvPicPr>
              <p:cNvPr id="110" name="图片 109">
                <a:extLst>
                  <a:ext uri="{FF2B5EF4-FFF2-40B4-BE49-F238E27FC236}">
                    <a16:creationId xmlns:a16="http://schemas.microsoft.com/office/drawing/2014/main" id="{B17A5133-8076-302A-B5D8-7905D62AE1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1372" b="31195"/>
              <a:stretch/>
            </p:blipFill>
            <p:spPr>
              <a:xfrm rot="5400000">
                <a:off x="3376785" y="3615165"/>
                <a:ext cx="815368" cy="446300"/>
              </a:xfrm>
              <a:prstGeom prst="rect">
                <a:avLst/>
              </a:prstGeom>
            </p:spPr>
          </p:pic>
          <p:pic>
            <p:nvPicPr>
              <p:cNvPr id="111" name="图片 110">
                <a:extLst>
                  <a:ext uri="{FF2B5EF4-FFF2-40B4-BE49-F238E27FC236}">
                    <a16:creationId xmlns:a16="http://schemas.microsoft.com/office/drawing/2014/main" id="{4DC610CE-FA32-9664-D6E5-83200ACF6C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1372" b="31195"/>
              <a:stretch/>
            </p:blipFill>
            <p:spPr>
              <a:xfrm rot="5400000">
                <a:off x="3754004" y="2596559"/>
                <a:ext cx="815368" cy="446300"/>
              </a:xfrm>
              <a:prstGeom prst="rect">
                <a:avLst/>
              </a:prstGeom>
            </p:spPr>
          </p:pic>
          <p:pic>
            <p:nvPicPr>
              <p:cNvPr id="112" name="图片 111">
                <a:extLst>
                  <a:ext uri="{FF2B5EF4-FFF2-40B4-BE49-F238E27FC236}">
                    <a16:creationId xmlns:a16="http://schemas.microsoft.com/office/drawing/2014/main" id="{EFCAD9F2-EC87-4A99-6379-4E449E21C8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1372" b="31195"/>
              <a:stretch/>
            </p:blipFill>
            <p:spPr>
              <a:xfrm rot="5400000">
                <a:off x="3754004" y="3615165"/>
                <a:ext cx="815368" cy="446300"/>
              </a:xfrm>
              <a:prstGeom prst="rect">
                <a:avLst/>
              </a:prstGeom>
            </p:spPr>
          </p:pic>
          <p:pic>
            <p:nvPicPr>
              <p:cNvPr id="7" name="图片 6">
                <a:extLst>
                  <a:ext uri="{FF2B5EF4-FFF2-40B4-BE49-F238E27FC236}">
                    <a16:creationId xmlns:a16="http://schemas.microsoft.com/office/drawing/2014/main" id="{DA49BDB4-557A-131C-3F4A-2048B39BCC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1372" b="31195"/>
              <a:stretch/>
            </p:blipFill>
            <p:spPr>
              <a:xfrm rot="5400000">
                <a:off x="1522078" y="2596557"/>
                <a:ext cx="815372" cy="446300"/>
              </a:xfrm>
              <a:prstGeom prst="rect">
                <a:avLst/>
              </a:prstGeom>
            </p:spPr>
          </p:pic>
          <p:pic>
            <p:nvPicPr>
              <p:cNvPr id="8" name="图片 7">
                <a:extLst>
                  <a:ext uri="{FF2B5EF4-FFF2-40B4-BE49-F238E27FC236}">
                    <a16:creationId xmlns:a16="http://schemas.microsoft.com/office/drawing/2014/main" id="{C34BB933-3BB6-49D6-D4FF-95705C77A2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1372" b="31195"/>
              <a:stretch/>
            </p:blipFill>
            <p:spPr>
              <a:xfrm rot="5400000">
                <a:off x="1522081" y="3615165"/>
                <a:ext cx="815368" cy="446300"/>
              </a:xfrm>
              <a:prstGeom prst="rect">
                <a:avLst/>
              </a:prstGeom>
            </p:spPr>
          </p:pic>
        </p:grpSp>
        <p:cxnSp>
          <p:nvCxnSpPr>
            <p:cNvPr id="94" name="直接箭头连接符 93">
              <a:extLst>
                <a:ext uri="{FF2B5EF4-FFF2-40B4-BE49-F238E27FC236}">
                  <a16:creationId xmlns:a16="http://schemas.microsoft.com/office/drawing/2014/main" id="{DB6B261B-5489-0538-0772-0EC972405C9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357403" y="1981200"/>
              <a:ext cx="2985203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/>
              <a:tailEnd type="triangle"/>
            </a:ln>
          </p:spPr>
        </p:cxnSp>
        <p:cxnSp>
          <p:nvCxnSpPr>
            <p:cNvPr id="95" name="直接箭头连接符 94">
              <a:extLst>
                <a:ext uri="{FF2B5EF4-FFF2-40B4-BE49-F238E27FC236}">
                  <a16:creationId xmlns:a16="http://schemas.microsoft.com/office/drawing/2014/main" id="{D1189110-3261-F623-42FC-16A7A7CEF71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263096" y="2106338"/>
              <a:ext cx="0" cy="240854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/>
              <a:tailEnd type="triangle"/>
            </a:ln>
          </p:spPr>
        </p:cxnSp>
      </p:grp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868ACCCB-A132-5B5A-5763-F0EB36124483}"/>
              </a:ext>
            </a:extLst>
          </p:cNvPr>
          <p:cNvCxnSpPr>
            <a:cxnSpLocks/>
          </p:cNvCxnSpPr>
          <p:nvPr/>
        </p:nvCxnSpPr>
        <p:spPr bwMode="auto">
          <a:xfrm>
            <a:off x="2744858" y="4343400"/>
            <a:ext cx="22614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</p:spPr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2006C796-114B-60C9-B118-A7DE3B4BEA02}"/>
              </a:ext>
            </a:extLst>
          </p:cNvPr>
          <p:cNvSpPr txBox="1"/>
          <p:nvPr/>
        </p:nvSpPr>
        <p:spPr>
          <a:xfrm>
            <a:off x="2590006" y="4005590"/>
            <a:ext cx="6928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/>
              <a:t>18.5mm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87B33EF-DFAB-0E5C-7E34-9926BEDD1E90}"/>
              </a:ext>
            </a:extLst>
          </p:cNvPr>
          <p:cNvSpPr txBox="1"/>
          <p:nvPr/>
        </p:nvSpPr>
        <p:spPr>
          <a:xfrm>
            <a:off x="2700007" y="5638800"/>
            <a:ext cx="5757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/>
              <a:t>80mm</a:t>
            </a: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988D36DC-A88A-5747-5983-04BFDE2B515A}"/>
              </a:ext>
            </a:extLst>
          </p:cNvPr>
          <p:cNvCxnSpPr>
            <a:cxnSpLocks/>
          </p:cNvCxnSpPr>
          <p:nvPr/>
        </p:nvCxnSpPr>
        <p:spPr bwMode="auto">
          <a:xfrm>
            <a:off x="2971006" y="5638801"/>
            <a:ext cx="0" cy="24120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</p:spPr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CBF2DDAE-538D-2477-F27F-0C3D0344853A}"/>
              </a:ext>
            </a:extLst>
          </p:cNvPr>
          <p:cNvSpPr txBox="1"/>
          <p:nvPr/>
        </p:nvSpPr>
        <p:spPr>
          <a:xfrm>
            <a:off x="1762581" y="3703784"/>
            <a:ext cx="8803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1310mm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6A76990-0F9A-F188-1BA6-ACAD2669A91C}"/>
              </a:ext>
            </a:extLst>
          </p:cNvPr>
          <p:cNvSpPr txBox="1"/>
          <p:nvPr/>
        </p:nvSpPr>
        <p:spPr>
          <a:xfrm>
            <a:off x="9506" y="4769653"/>
            <a:ext cx="8670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1120mm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90FC17D7-7FD5-F228-9A10-7A186913E78F}"/>
              </a:ext>
            </a:extLst>
          </p:cNvPr>
          <p:cNvCxnSpPr>
            <a:cxnSpLocks/>
          </p:cNvCxnSpPr>
          <p:nvPr/>
        </p:nvCxnSpPr>
        <p:spPr bwMode="auto">
          <a:xfrm flipV="1">
            <a:off x="6628606" y="4120210"/>
            <a:ext cx="393375" cy="22319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4B809762-DF8A-EA53-2D46-10DE19B66C9A}"/>
              </a:ext>
            </a:extLst>
          </p:cNvPr>
          <p:cNvSpPr txBox="1"/>
          <p:nvPr/>
        </p:nvSpPr>
        <p:spPr>
          <a:xfrm>
            <a:off x="6722865" y="3784983"/>
            <a:ext cx="1330037" cy="335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顶层少放</a:t>
            </a:r>
            <a:r>
              <a:rPr lang="en-US" altLang="zh-CN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件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619428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CFF9F1-7404-4EF2-6225-D001A437B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捆包成本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FF3F011-C183-D8DD-1817-76983F0B2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87BCED-6C00-41A0-9FAE-AC08F0FDD3AD}" type="slidenum">
              <a:rPr lang="en-US" altLang="zh-CN" smtClean="0"/>
              <a:t>4</a:t>
            </a:fld>
            <a:endParaRPr lang="en-US" altLang="zh-CN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93585AE-003B-0C9A-DB88-00EEEFA48663}"/>
              </a:ext>
            </a:extLst>
          </p:cNvPr>
          <p:cNvSpPr/>
          <p:nvPr/>
        </p:nvSpPr>
        <p:spPr>
          <a:xfrm>
            <a:off x="795" y="6497638"/>
            <a:ext cx="12190413" cy="360362"/>
          </a:xfrm>
          <a:prstGeom prst="rect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defTabSz="457200">
              <a:defRPr/>
            </a:pPr>
            <a:r>
              <a:rPr lang="en-US" altLang="zh-CN" sz="20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HG20T</a:t>
            </a:r>
            <a:r>
              <a:rPr lang="zh-CN" altLang="en-US" sz="20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曲轴</a:t>
            </a:r>
            <a:r>
              <a:rPr lang="zh-CN" altLang="en-US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捆包成本为</a:t>
            </a:r>
            <a:r>
              <a:rPr lang="en-US" altLang="zh-CN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1.69</a:t>
            </a:r>
            <a:r>
              <a:rPr lang="zh-CN" altLang="en-US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lang="en-US" altLang="zh-CN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件</a:t>
            </a:r>
            <a:endParaRPr lang="en-US" altLang="zh-CN" sz="20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D76321B-F480-6248-3C44-3FA85C4DB1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5403120"/>
              </p:ext>
            </p:extLst>
          </p:nvPr>
        </p:nvGraphicFramePr>
        <p:xfrm>
          <a:off x="761206" y="609600"/>
          <a:ext cx="10872737" cy="583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1239448" imgH="6032546" progId="Excel.Sheet.12">
                  <p:embed/>
                </p:oleObj>
              </mc:Choice>
              <mc:Fallback>
                <p:oleObj name="Worksheet" r:id="rId3" imgW="11239448" imgH="6032546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61206" y="609600"/>
                        <a:ext cx="10872737" cy="5835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61486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9F9580-1298-06C0-DDEB-24BAD2A87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运输方案建议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EDBEC526-3BE7-2169-9EDB-A82B54463D4F}"/>
              </a:ext>
            </a:extLst>
          </p:cNvPr>
          <p:cNvSpPr txBox="1">
            <a:spLocks/>
          </p:cNvSpPr>
          <p:nvPr/>
        </p:nvSpPr>
        <p:spPr bwMode="auto">
          <a:xfrm>
            <a:off x="284174" y="3352800"/>
            <a:ext cx="3296432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kern="0" dirty="0">
                <a:solidFill>
                  <a:srgbClr val="000000"/>
                </a:solidFill>
              </a:rPr>
              <a:t>运输建议：</a:t>
            </a: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5B28F00F-3BA0-5C25-939C-5ACF023ECF1C}"/>
              </a:ext>
            </a:extLst>
          </p:cNvPr>
          <p:cNvSpPr txBox="1"/>
          <p:nvPr/>
        </p:nvSpPr>
        <p:spPr>
          <a:xfrm>
            <a:off x="284174" y="810985"/>
            <a:ext cx="70182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年工作日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246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天，月工作日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20.5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计算；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月量产</a:t>
            </a: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56C2D500-4D68-0791-4F21-65223FD6D3C8}"/>
              </a:ext>
            </a:extLst>
          </p:cNvPr>
          <p:cNvSpPr txBox="1">
            <a:spLocks/>
          </p:cNvSpPr>
          <p:nvPr/>
        </p:nvSpPr>
        <p:spPr bwMode="auto">
          <a:xfrm>
            <a:off x="544174" y="3616375"/>
            <a:ext cx="6781800" cy="879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0" kern="0" dirty="0">
                <a:solidFill>
                  <a:srgbClr val="000000"/>
                </a:solidFill>
              </a:rPr>
              <a:t>公路：</a:t>
            </a:r>
            <a:r>
              <a:rPr lang="en-US" altLang="zh-CN" sz="2000" b="0" kern="0" dirty="0">
                <a:solidFill>
                  <a:srgbClr val="000000"/>
                </a:solidFill>
              </a:rPr>
              <a:t>DHAC</a:t>
            </a:r>
            <a:r>
              <a:rPr lang="en-US" altLang="zh-CN" sz="2000" b="0" kern="0" dirty="0">
                <a:solidFill>
                  <a:srgbClr val="000000"/>
                </a:solidFill>
                <a:sym typeface="Wingdings" panose="05000000000000000000" pitchFamily="2" charset="2"/>
              </a:rPr>
              <a:t></a:t>
            </a:r>
            <a:r>
              <a:rPr lang="zh-CN" altLang="en-US" sz="2000" b="0" kern="0" dirty="0">
                <a:solidFill>
                  <a:srgbClr val="000000"/>
                </a:solidFill>
                <a:sym typeface="Wingdings" panose="05000000000000000000" pitchFamily="2" charset="2"/>
              </a:rPr>
              <a:t>重庆长寿区（直达客户，不设中转库）</a:t>
            </a:r>
            <a:endParaRPr lang="zh-CN" altLang="en-US" sz="2000" b="0" kern="0" dirty="0">
              <a:solidFill>
                <a:srgbClr val="000000"/>
              </a:solidFill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49413792-61E7-E17B-2299-C6A3F95522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8226138"/>
              </p:ext>
            </p:extLst>
          </p:nvPr>
        </p:nvGraphicFramePr>
        <p:xfrm>
          <a:off x="761206" y="1427420"/>
          <a:ext cx="10359833" cy="1620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7753531" imgH="1212827" progId="Excel.Sheet.12">
                  <p:embed/>
                </p:oleObj>
              </mc:Choice>
              <mc:Fallback>
                <p:oleObj name="Worksheet" r:id="rId2" imgW="7753531" imgH="121282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61206" y="1427420"/>
                        <a:ext cx="10359833" cy="16205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03807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87BCED-6C00-41A0-9FAE-AC08F0FDD3AD}" type="slidenum">
              <a:rPr lang="en-US" altLang="zh-CN"/>
              <a:t>6</a:t>
            </a:fld>
            <a:endParaRPr lang="en-US" altLang="zh-CN"/>
          </a:p>
        </p:txBody>
      </p:sp>
      <p:pic>
        <p:nvPicPr>
          <p:cNvPr id="70658" name="图片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395"/>
          <a:stretch>
            <a:fillRect/>
          </a:stretch>
        </p:blipFill>
        <p:spPr bwMode="auto">
          <a:xfrm>
            <a:off x="0" y="2527935"/>
            <a:ext cx="12195810" cy="4330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660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21" r="8778"/>
          <a:stretch>
            <a:fillRect/>
          </a:stretch>
        </p:blipFill>
        <p:spPr bwMode="auto">
          <a:xfrm>
            <a:off x="5104765" y="5181600"/>
            <a:ext cx="6638925" cy="1527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/>
          <p:cNvSpPr txBox="1"/>
          <p:nvPr/>
        </p:nvSpPr>
        <p:spPr>
          <a:xfrm>
            <a:off x="4842821" y="2057227"/>
            <a:ext cx="2510790" cy="1106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600" b="1" spc="3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 </a:t>
            </a:r>
            <a:r>
              <a:rPr lang="en-US" altLang="zh-CN" sz="6600" b="1" spc="3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6600" b="1" spc="3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上</a:t>
            </a:r>
            <a:endParaRPr lang="zh-CN" altLang="en-US" sz="6600" b="1" dirty="0">
              <a:solidFill>
                <a:srgbClr val="E5001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 descr="资源 3-恢复的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59715" y="3728085"/>
            <a:ext cx="4613910" cy="265303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WM1MjI3Yjc2ZjZlYmZiYTIwNjFkYzk5MzA1MDczMm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6819,&quot;width&quot;:19206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406,&quot;width&quot;:1045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3285,&quot;width&quot;:5713}"/>
</p:tagLst>
</file>

<file path=ppt/theme/theme1.xml><?xml version="1.0" encoding="utf-8"?>
<a:theme xmlns:a="http://schemas.openxmlformats.org/drawingml/2006/main" name="Office 主题">
  <a:themeElements>
    <a:clrScheme name="Office 主题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主题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Office 主题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3265</TotalTime>
  <Words>328</Words>
  <Application>Microsoft Office PowerPoint</Application>
  <PresentationFormat>自定义</PresentationFormat>
  <Paragraphs>76</Paragraphs>
  <Slides>6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宋体</vt:lpstr>
      <vt:lpstr>微软雅黑</vt:lpstr>
      <vt:lpstr>Arial</vt:lpstr>
      <vt:lpstr>Calibri</vt:lpstr>
      <vt:lpstr>Wingdings</vt:lpstr>
      <vt:lpstr>Office 主题</vt:lpstr>
      <vt:lpstr>Worksheet</vt:lpstr>
      <vt:lpstr>Microsoft Excel 工作表</vt:lpstr>
      <vt:lpstr>PowerPoint 演示文稿</vt:lpstr>
      <vt:lpstr>报价依赖</vt:lpstr>
      <vt:lpstr>包装方案检讨</vt:lpstr>
      <vt:lpstr>捆包成本</vt:lpstr>
      <vt:lpstr>运输方案建议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office</cp:lastModifiedBy>
  <cp:revision>211</cp:revision>
  <cp:lastPrinted>2025-02-12T01:30:41Z</cp:lastPrinted>
  <dcterms:created xsi:type="dcterms:W3CDTF">2018-11-07T02:56:00Z</dcterms:created>
  <dcterms:modified xsi:type="dcterms:W3CDTF">2025-04-14T01:49:26Z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822A94F8AA72452DB9C145218CAE9CEB</vt:lpwstr>
  </property>
  <property fmtid="{D5CDD505-2E9C-101B-9397-08002B2CF9AE}" pid="4" name="KSOProductBuildVer">
    <vt:lpwstr>2052-11.1.0.12313</vt:lpwstr>
  </property>
</Properties>
</file>