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64" r:id="rId3"/>
    <p:sldId id="275" r:id="rId4"/>
    <p:sldId id="271" r:id="rId5"/>
    <p:sldId id="273" r:id="rId6"/>
    <p:sldId id="272" r:id="rId7"/>
    <p:sldId id="259" r:id="rId8"/>
  </p:sldIdLst>
  <p:sldSz cx="12190413" cy="6858000"/>
  <p:notesSz cx="6797675" cy="9926638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09B1AD-41C9-5B40-741D-A2EDD77C501B}" name="office" initials="oo" userId="S::75575@officed.top::fe64984c-748f-496b-bd79-93adb327ef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9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4660"/>
  </p:normalViewPr>
  <p:slideViewPr>
    <p:cSldViewPr>
      <p:cViewPr varScale="1">
        <p:scale>
          <a:sx n="74" d="100"/>
          <a:sy n="74" d="100"/>
        </p:scale>
        <p:origin x="883" y="48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6E6CA374-CE27-4038-AC7B-C7C88223D294}" type="datetimeFigureOut">
              <a:rPr lang="zh-CN" altLang="en-US"/>
              <a:t>2025/7/12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A28B1D8-63D4-4E05-95F4-A7E533659FD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11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37AA9BD0-7134-47AD-9666-4B4E51F4A409}" type="datetimeFigureOut">
              <a:rPr lang="zh-CN" altLang="en-US"/>
              <a:t>2025/7/12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64BD2DD-BF31-4F3E-808C-185F4AAE676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612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客户要求备</a:t>
            </a:r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3~5</a:t>
            </a: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天库存</a:t>
            </a:r>
            <a:endParaRPr lang="zh-CN" altLang="en-US" sz="1800" dirty="0"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4BD2DD-BF31-4F3E-808C-185F4AAE67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77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950C4-95B1-473D-BA0F-6B75054268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3B1D5-6B4D-4D5A-B22E-E381F3C10BD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125F8-855A-4A53-9E8F-E674C1F112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3DC5C-9CF5-4723-AFBE-DC5ED6DB2D6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7E1EC-EBB9-45FB-8032-4BC68789ED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288" y="141516"/>
            <a:ext cx="8610600" cy="381000"/>
          </a:xfrm>
        </p:spPr>
        <p:txBody>
          <a:bodyPr/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5613" y="6477000"/>
            <a:ext cx="2844800" cy="381000"/>
          </a:xfrm>
        </p:spPr>
        <p:txBody>
          <a:bodyPr/>
          <a:lstStyle>
            <a:lvl1pPr>
              <a:defRPr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D87BCED-6C00-41A0-9FAE-AC08F0FDD3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3ADCC-B09D-455F-AC51-4A4A480F06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92B87-9AA0-4C48-A99C-4ABAE0424F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1B3CB-1110-46FF-97AB-EB311B4EC7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4167C-1F14-42C7-9102-023123C916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9C5DC-7727-4C28-8A3B-557083EE90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5921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6A161C-2B7C-4D0A-BCF9-F6CF9872113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4B0DC9-7AC4-4F09-87B0-46736CE7FC41}" type="slidenum">
              <a:rPr lang="en-US" altLang="zh-CN" sz="2000" smtClean="0">
                <a:solidFill>
                  <a:srgbClr val="A6A6A6"/>
                </a:solidFill>
                <a:latin typeface="微软雅黑" panose="020B0503020204020204" pitchFamily="34" charset="-122"/>
              </a:rPr>
              <a:t>1</a:t>
            </a:fld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-1" y="914400"/>
            <a:ext cx="12190413" cy="200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DK2509-10</a:t>
            </a: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前后盘</a:t>
            </a:r>
            <a:endParaRPr lang="en-US" altLang="zh-CN" sz="4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包装方案及捆包成本检讨</a:t>
            </a:r>
          </a:p>
        </p:txBody>
      </p:sp>
      <p:grpSp>
        <p:nvGrpSpPr>
          <p:cNvPr id="5125" name="组合 8"/>
          <p:cNvGrpSpPr/>
          <p:nvPr/>
        </p:nvGrpSpPr>
        <p:grpSpPr bwMode="auto">
          <a:xfrm>
            <a:off x="304006" y="5676900"/>
            <a:ext cx="822325" cy="1028700"/>
            <a:chOff x="9399" y="1383"/>
            <a:chExt cx="1293" cy="1618"/>
          </a:xfrm>
        </p:grpSpPr>
        <p:pic>
          <p:nvPicPr>
            <p:cNvPr id="5126" name="图片 9" descr="密级B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7" y="1383"/>
              <a:ext cx="1016" cy="1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7" name="Text Box 6"/>
            <p:cNvSpPr txBox="1">
              <a:spLocks noChangeArrowheads="1"/>
            </p:cNvSpPr>
            <p:nvPr/>
          </p:nvSpPr>
          <p:spPr bwMode="auto">
            <a:xfrm>
              <a:off x="9399" y="2374"/>
              <a:ext cx="1293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200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内部信息</a:t>
              </a:r>
              <a:endParaRPr lang="zh-CN" altLang="zh-CN" sz="1000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3367" y="3810000"/>
            <a:ext cx="1219041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供应保证部生产管理科</a:t>
            </a:r>
            <a:endParaRPr lang="en-US" altLang="zh-CN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080148E-EBD2-508D-6C90-FE464BE0D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976590"/>
              </p:ext>
            </p:extLst>
          </p:nvPr>
        </p:nvGraphicFramePr>
        <p:xfrm>
          <a:off x="1087536" y="5361936"/>
          <a:ext cx="714127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61">
                  <a:extLst>
                    <a:ext uri="{9D8B030D-6E8A-4147-A177-3AD203B41FA5}">
                      <a16:colId xmlns:a16="http://schemas.microsoft.com/office/drawing/2014/main" val="76824804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科长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检技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/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报价依赖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45933A-CD7A-F2AA-F2EE-22B113256AB0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收到客户前后盘报价依赖，折旧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年合计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万台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181741-9421-F32D-44CE-464B6D461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07918"/>
              </p:ext>
            </p:extLst>
          </p:nvPr>
        </p:nvGraphicFramePr>
        <p:xfrm>
          <a:off x="239582" y="1631286"/>
          <a:ext cx="5627855" cy="36265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9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Wingdings" panose="05000000000000000000" pitchFamily="2" charset="2"/>
                        </a:rPr>
                        <a:t>信息</a:t>
                      </a:r>
                      <a:endParaRPr lang="en-US" altLang="zh-CN" sz="1400" b="1" kern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车型信息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级新能源 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SUV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023499"/>
                  </a:ext>
                </a:extLst>
              </a:tr>
              <a:tr h="311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检讨部品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后制动盘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折旧台数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（万台）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材料时点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4Q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3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客户大日程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2025/5/23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骡子车样件，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2026/7/31 SOP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物流交货地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DHAC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送货，物流地成都，需建立中转库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7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客户要求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构想图→产品设计→制造→捆包物流→产品交付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3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价格提交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日提交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RFQ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文件，暂定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日提交系统报价（系统发包到提交报价约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个工作日）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2690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C1B9123-99FB-38A7-A85D-E25931900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07957"/>
              </p:ext>
            </p:extLst>
          </p:nvPr>
        </p:nvGraphicFramePr>
        <p:xfrm>
          <a:off x="1440336" y="2622449"/>
          <a:ext cx="4342718" cy="365760"/>
        </p:xfrm>
        <a:graphic>
          <a:graphicData uri="http://schemas.openxmlformats.org/drawingml/2006/table">
            <a:tbl>
              <a:tblPr firstRow="1" firstCol="1" bandRow="1"/>
              <a:tblGrid>
                <a:gridCol w="604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0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58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2026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2027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2028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2029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2030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2031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合计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90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10.0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宋体" panose="02010600030101010101" pitchFamily="2" charset="-122"/>
                        </a:rPr>
                        <a:t>10.0</a:t>
                      </a:r>
                      <a:endParaRPr kumimoji="0" lang="zh-CN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宋体" panose="02010600030101010101" pitchFamily="2" charset="-122"/>
                        </a:rPr>
                        <a:t>10.0</a:t>
                      </a:r>
                      <a:endParaRPr kumimoji="0" lang="zh-CN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9.0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45.0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矩形 46">
            <a:extLst>
              <a:ext uri="{FF2B5EF4-FFF2-40B4-BE49-F238E27FC236}">
                <a16:creationId xmlns:a16="http://schemas.microsoft.com/office/drawing/2014/main" id="{9B8FD0E6-97A8-60C3-A1D2-AA6AEF1F6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" y="1305802"/>
            <a:ext cx="1979355" cy="41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车型部品信息</a:t>
            </a:r>
          </a:p>
        </p:txBody>
      </p:sp>
      <p:sp>
        <p:nvSpPr>
          <p:cNvPr id="11" name="矩形 46">
            <a:extLst>
              <a:ext uri="{FF2B5EF4-FFF2-40B4-BE49-F238E27FC236}">
                <a16:creationId xmlns:a16="http://schemas.microsoft.com/office/drawing/2014/main" id="{F1B1EBBE-A7C9-37CC-EEB3-7C65E9606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066" y="1305802"/>
            <a:ext cx="1979355" cy="41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部品信息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FF87F8F-06DF-2821-5C43-A8C7E8635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65690"/>
              </p:ext>
            </p:extLst>
          </p:nvPr>
        </p:nvGraphicFramePr>
        <p:xfrm>
          <a:off x="6019814" y="1631285"/>
          <a:ext cx="6095828" cy="3626514"/>
        </p:xfrm>
        <a:graphic>
          <a:graphicData uri="http://schemas.openxmlformats.org/drawingml/2006/table">
            <a:tbl>
              <a:tblPr firstRow="1" firstCol="1" bandRow="1"/>
              <a:tblGrid>
                <a:gridCol w="38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45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序号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报价</a:t>
                      </a: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部品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重量（</a:t>
                      </a:r>
                      <a:r>
                        <a:rPr lang="en-US" altLang="zh-CN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kg</a:t>
                      </a: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基本尺寸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材 质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防锈要求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试验项目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①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r>
                        <a:rPr 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制动盘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13.5</a:t>
                      </a: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l-GR" altLang="zh-CN" sz="1100" b="0" dirty="0">
                          <a:solidFill>
                            <a:schemeClr val="tx1"/>
                          </a:solidFill>
                        </a:rPr>
                        <a:t>Φ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380*30mm</a:t>
                      </a:r>
                      <a:endParaRPr lang="ja-JP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0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HT150</a:t>
                      </a: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非工作面需进行防锈处理，涂层区域满足</a:t>
                      </a:r>
                      <a:r>
                        <a:rPr lang="en-US" altLang="zh-CN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250</a:t>
                      </a:r>
                      <a:r>
                        <a:rPr lang="zh-CN" altLang="en-US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小时无红锈</a:t>
                      </a:r>
                      <a:endParaRPr lang="zh-CN" sz="11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热变形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热裂纹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抗扭力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扭力破坏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扭力耐久强度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热抖动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耐腐蚀试验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禁限用物质检测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铸件铸造质量评价</a:t>
                      </a:r>
                      <a:endParaRPr lang="en-US" altLang="zh-CN" sz="11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②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</a:t>
                      </a:r>
                      <a:r>
                        <a:rPr 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制动盘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11.1</a:t>
                      </a: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l-GR" altLang="zh-CN" sz="1100" b="0" dirty="0">
                          <a:solidFill>
                            <a:schemeClr val="tx1"/>
                          </a:solidFill>
                        </a:rPr>
                        <a:t>Φ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380*30mm</a:t>
                      </a:r>
                      <a:endParaRPr lang="ja-JP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96" marR="68596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备注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H77</a:t>
                      </a: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前后制动盘为</a:t>
                      </a:r>
                      <a:r>
                        <a:rPr lang="en-US" alt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Bass</a:t>
                      </a: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设计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91535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458AD4E0-63F8-D0AD-FA5F-43562A5B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010" y="2340018"/>
            <a:ext cx="738243" cy="7774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E282338-D5E4-5F5C-2B3B-A2207F87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500" y="3587709"/>
            <a:ext cx="823262" cy="90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8405B-2E8C-C286-563B-64F4FC9E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包装方案检讨</a:t>
            </a:r>
            <a:r>
              <a:rPr lang="en-US" altLang="zh-CN" dirty="0"/>
              <a:t>-</a:t>
            </a:r>
            <a:r>
              <a:rPr lang="zh-CN" altLang="en-US" dirty="0"/>
              <a:t>通用金属铁框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8BBF942-2801-9EE3-5D44-145E0117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0F4925-CD7A-05E2-F750-DA7A274B7F8D}"/>
              </a:ext>
            </a:extLst>
          </p:cNvPr>
          <p:cNvSpPr txBox="1"/>
          <p:nvPr/>
        </p:nvSpPr>
        <p:spPr>
          <a:xfrm>
            <a:off x="1559799" y="3657600"/>
            <a:ext cx="844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1310mm</a:t>
            </a:r>
            <a:endParaRPr lang="zh-CN" altLang="en-US" sz="1200" dirty="0"/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D7F15918-2214-0BD7-586F-A060F4215E44}"/>
              </a:ext>
            </a:extLst>
          </p:cNvPr>
          <p:cNvSpPr/>
          <p:nvPr/>
        </p:nvSpPr>
        <p:spPr bwMode="auto">
          <a:xfrm>
            <a:off x="380206" y="3995871"/>
            <a:ext cx="3183623" cy="25908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C1C0C6C-2ECD-F235-FE46-4B2699C46C74}"/>
              </a:ext>
            </a:extLst>
          </p:cNvPr>
          <p:cNvCxnSpPr/>
          <p:nvPr/>
        </p:nvCxnSpPr>
        <p:spPr bwMode="auto">
          <a:xfrm>
            <a:off x="380206" y="3758636"/>
            <a:ext cx="0" cy="77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5A8D34C-5146-08F8-9A80-C034AE9D14B3}"/>
              </a:ext>
            </a:extLst>
          </p:cNvPr>
          <p:cNvCxnSpPr/>
          <p:nvPr/>
        </p:nvCxnSpPr>
        <p:spPr bwMode="auto">
          <a:xfrm>
            <a:off x="3583290" y="3754040"/>
            <a:ext cx="0" cy="77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DF74FA4-D160-D19B-0A97-EFB07B9413C4}"/>
              </a:ext>
            </a:extLst>
          </p:cNvPr>
          <p:cNvCxnSpPr/>
          <p:nvPr/>
        </p:nvCxnSpPr>
        <p:spPr bwMode="auto">
          <a:xfrm>
            <a:off x="380206" y="3911036"/>
            <a:ext cx="320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541BE06-DF97-7452-0D51-DD90B89802F1}"/>
              </a:ext>
            </a:extLst>
          </p:cNvPr>
          <p:cNvCxnSpPr/>
          <p:nvPr/>
        </p:nvCxnSpPr>
        <p:spPr bwMode="auto">
          <a:xfrm>
            <a:off x="3195701" y="4014662"/>
            <a:ext cx="7337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235976C-9EE8-40C1-6F95-C87D87E9CE07}"/>
              </a:ext>
            </a:extLst>
          </p:cNvPr>
          <p:cNvCxnSpPr/>
          <p:nvPr/>
        </p:nvCxnSpPr>
        <p:spPr bwMode="auto">
          <a:xfrm>
            <a:off x="3046810" y="6586670"/>
            <a:ext cx="7337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90C4558-B873-B98C-0BAD-5885F73097D2}"/>
              </a:ext>
            </a:extLst>
          </p:cNvPr>
          <p:cNvCxnSpPr/>
          <p:nvPr/>
        </p:nvCxnSpPr>
        <p:spPr bwMode="auto">
          <a:xfrm>
            <a:off x="3716689" y="4061765"/>
            <a:ext cx="0" cy="2520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65DFEDA-1003-6D21-932E-C15F2FA18C2C}"/>
              </a:ext>
            </a:extLst>
          </p:cNvPr>
          <p:cNvSpPr txBox="1"/>
          <p:nvPr/>
        </p:nvSpPr>
        <p:spPr>
          <a:xfrm>
            <a:off x="3637044" y="5343917"/>
            <a:ext cx="844814" cy="278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1120mm</a:t>
            </a:r>
            <a:endParaRPr lang="zh-CN" altLang="en-US" sz="12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AD9DBE-A423-E68F-7009-90592EAA01D2}"/>
              </a:ext>
            </a:extLst>
          </p:cNvPr>
          <p:cNvGrpSpPr/>
          <p:nvPr/>
        </p:nvGrpSpPr>
        <p:grpSpPr>
          <a:xfrm>
            <a:off x="403710" y="4028549"/>
            <a:ext cx="1005952" cy="879108"/>
            <a:chOff x="6433411" y="2874792"/>
            <a:chExt cx="1224000" cy="122400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C740082-41B8-0F06-67AF-F94E8756267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68A5E64-03BC-549C-038B-B5DD133D34D5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5BF1041-80E1-F326-7EFC-A4049EBFDC70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3EA8D22-CAB0-8130-7FD4-9243DD376875}"/>
              </a:ext>
            </a:extLst>
          </p:cNvPr>
          <p:cNvGrpSpPr/>
          <p:nvPr/>
        </p:nvGrpSpPr>
        <p:grpSpPr>
          <a:xfrm>
            <a:off x="1447006" y="4014662"/>
            <a:ext cx="1005952" cy="879108"/>
            <a:chOff x="6433411" y="2874792"/>
            <a:chExt cx="1224000" cy="1224000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886844C-3430-9E40-09D4-D37D3199948E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13479CF-CEEA-FBA8-A31C-557627D5A1A3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97E8C2A-076B-0C6B-F131-E71214AA291F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34131D1-0DB3-FF40-6B4A-B984D11E3803}"/>
              </a:ext>
            </a:extLst>
          </p:cNvPr>
          <p:cNvGrpSpPr/>
          <p:nvPr/>
        </p:nvGrpSpPr>
        <p:grpSpPr>
          <a:xfrm>
            <a:off x="2496194" y="4052270"/>
            <a:ext cx="1005952" cy="879108"/>
            <a:chOff x="6433411" y="2874792"/>
            <a:chExt cx="1224000" cy="1224000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B2D4F-469A-53D9-A394-BE173C359060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AFBADDB-382E-93F6-3D26-6146FA700E07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640C02F-F3CE-6A50-2953-8CAD2120EC6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6193F42-B6CD-5BDB-9352-ED54DA51C0D1}"/>
              </a:ext>
            </a:extLst>
          </p:cNvPr>
          <p:cNvGrpSpPr/>
          <p:nvPr/>
        </p:nvGrpSpPr>
        <p:grpSpPr>
          <a:xfrm>
            <a:off x="1965457" y="4837051"/>
            <a:ext cx="1005952" cy="879108"/>
            <a:chOff x="6433411" y="2874792"/>
            <a:chExt cx="1224000" cy="1224000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9ED018F-3783-C914-6769-53A01CA15D92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63B9DE3-D86D-0138-378E-9F3BA970AA7A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2A08B50-714D-5C9F-9B5E-726CD668067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BE2EF5-E641-3D33-820E-17AD6D5A803B}"/>
              </a:ext>
            </a:extLst>
          </p:cNvPr>
          <p:cNvGrpSpPr/>
          <p:nvPr/>
        </p:nvGrpSpPr>
        <p:grpSpPr>
          <a:xfrm>
            <a:off x="917998" y="4823902"/>
            <a:ext cx="1005952" cy="879108"/>
            <a:chOff x="6433411" y="2874792"/>
            <a:chExt cx="1224000" cy="1224000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C2FAA15-7474-F4B5-CFE2-A9BA12F6D48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ECD3EC96-8418-DD51-83A8-5D6FF89B585E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2ECEA19-F195-A0E1-856C-32E7D714BA7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03D83A2-F5E6-3687-54B5-CDA9C3B6AE5E}"/>
              </a:ext>
            </a:extLst>
          </p:cNvPr>
          <p:cNvGrpSpPr/>
          <p:nvPr/>
        </p:nvGrpSpPr>
        <p:grpSpPr>
          <a:xfrm>
            <a:off x="406928" y="5637891"/>
            <a:ext cx="1005952" cy="879108"/>
            <a:chOff x="6433411" y="2874792"/>
            <a:chExt cx="1224000" cy="122400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59B31BF-E953-A568-1E59-976B4FCCAFCD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816392F5-6AB3-6597-23D3-987F15760592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1BF4BA1E-C260-BB20-BEB7-C1F52F9B8694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B2C1CD-A1C2-FEAF-6032-F1749B4EF302}"/>
              </a:ext>
            </a:extLst>
          </p:cNvPr>
          <p:cNvGrpSpPr/>
          <p:nvPr/>
        </p:nvGrpSpPr>
        <p:grpSpPr>
          <a:xfrm>
            <a:off x="1439601" y="5646291"/>
            <a:ext cx="1005952" cy="879108"/>
            <a:chOff x="6433411" y="2874792"/>
            <a:chExt cx="1224000" cy="1224000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8F8FBF0-9A74-A157-B8FA-B0CEBC11DD2F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61077F9-19E0-81F7-FF7B-FDB34BFDFADF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386C56A-82D3-CDE2-42A5-71DF8B1ED224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16B610E-7C58-FAA1-5616-5712E3096E35}"/>
              </a:ext>
            </a:extLst>
          </p:cNvPr>
          <p:cNvGrpSpPr/>
          <p:nvPr/>
        </p:nvGrpSpPr>
        <p:grpSpPr>
          <a:xfrm>
            <a:off x="2498454" y="5657110"/>
            <a:ext cx="1005952" cy="879108"/>
            <a:chOff x="6433411" y="2874792"/>
            <a:chExt cx="1224000" cy="1224000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236A402-1FC9-E452-2404-8B2FE7EB431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3BF4533-AD5E-0E7D-5736-A17DE84571BA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11A4D465-A7E6-A86E-80CE-03AD4545A08D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8A3462B4-7295-06F1-FA55-14A4FC3DF67E}"/>
              </a:ext>
            </a:extLst>
          </p:cNvPr>
          <p:cNvSpPr txBox="1"/>
          <p:nvPr/>
        </p:nvSpPr>
        <p:spPr>
          <a:xfrm>
            <a:off x="77206" y="3449202"/>
            <a:ext cx="381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通用容器（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铁框）每层内零件摆放式样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构想）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D6054B9-B32B-2340-54BE-1AEDED7534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69" y="4018010"/>
            <a:ext cx="2902637" cy="245899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D5599229-E8F4-906C-06DC-A1597126B107}"/>
              </a:ext>
            </a:extLst>
          </p:cNvPr>
          <p:cNvSpPr txBox="1"/>
          <p:nvPr/>
        </p:nvSpPr>
        <p:spPr>
          <a:xfrm>
            <a:off x="4247395" y="3507087"/>
            <a:ext cx="2407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满铁框上线式样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9E2EDE2-2DA4-ECF0-0657-18D51E3F514A}"/>
              </a:ext>
            </a:extLst>
          </p:cNvPr>
          <p:cNvSpPr txBox="1"/>
          <p:nvPr/>
        </p:nvSpPr>
        <p:spPr>
          <a:xfrm>
            <a:off x="4403895" y="523137"/>
            <a:ext cx="1937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通用金属铁框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5AFA97B-4F2D-A9B1-7FE4-4636038513F3}"/>
              </a:ext>
            </a:extLst>
          </p:cNvPr>
          <p:cNvSpPr txBox="1"/>
          <p:nvPr/>
        </p:nvSpPr>
        <p:spPr>
          <a:xfrm>
            <a:off x="8616853" y="2735604"/>
            <a:ext cx="3427303" cy="7441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包装物流信息：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物流：送货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DHAC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中转库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→客户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包装：使用通用金属铁框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EBE107B5-D3B6-716D-FA90-7DFF6F25C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55520"/>
              </p:ext>
            </p:extLst>
          </p:nvPr>
        </p:nvGraphicFramePr>
        <p:xfrm>
          <a:off x="4403895" y="2590800"/>
          <a:ext cx="4129259" cy="6462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0711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836517">
                  <a:extLst>
                    <a:ext uri="{9D8B030D-6E8A-4147-A177-3AD203B41FA5}">
                      <a16:colId xmlns:a16="http://schemas.microsoft.com/office/drawing/2014/main" val="2700754590"/>
                    </a:ext>
                  </a:extLst>
                </a:gridCol>
                <a:gridCol w="915631">
                  <a:extLst>
                    <a:ext uri="{9D8B030D-6E8A-4147-A177-3AD203B41FA5}">
                      <a16:colId xmlns:a16="http://schemas.microsoft.com/office/drawing/2014/main" val="2564304899"/>
                    </a:ext>
                  </a:extLst>
                </a:gridCol>
              </a:tblGrid>
              <a:tr h="3280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内长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内宽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内高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182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料笼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</a:tbl>
          </a:graphicData>
        </a:graphic>
      </p:graphicFrame>
      <p:pic>
        <p:nvPicPr>
          <p:cNvPr id="54" name="图片 53">
            <a:extLst>
              <a:ext uri="{FF2B5EF4-FFF2-40B4-BE49-F238E27FC236}">
                <a16:creationId xmlns:a16="http://schemas.microsoft.com/office/drawing/2014/main" id="{0FEB58C3-8394-9A3A-ED37-F482D4F2DE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3" b="89773" l="9933" r="91246"/>
                    </a14:imgEffect>
                  </a14:imgLayer>
                </a14:imgProps>
              </a:ext>
            </a:extLst>
          </a:blip>
          <a:srcRect l="13468" t="6819" r="7071" b="11363"/>
          <a:stretch/>
        </p:blipFill>
        <p:spPr>
          <a:xfrm>
            <a:off x="5063140" y="1078610"/>
            <a:ext cx="2479866" cy="1450031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D86DA62F-0C0D-F21A-DE31-8DC8D6069045}"/>
              </a:ext>
            </a:extLst>
          </p:cNvPr>
          <p:cNvGrpSpPr/>
          <p:nvPr/>
        </p:nvGrpSpPr>
        <p:grpSpPr>
          <a:xfrm>
            <a:off x="8738472" y="705427"/>
            <a:ext cx="2688713" cy="1978185"/>
            <a:chOff x="8646187" y="704230"/>
            <a:chExt cx="2688713" cy="1978185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EA86431-F309-351F-C29B-ED5315D57C42}"/>
                </a:ext>
              </a:extLst>
            </p:cNvPr>
            <p:cNvGrpSpPr/>
            <p:nvPr/>
          </p:nvGrpSpPr>
          <p:grpSpPr>
            <a:xfrm>
              <a:off x="8646187" y="704230"/>
              <a:ext cx="2688713" cy="1978185"/>
              <a:chOff x="9364852" y="838200"/>
              <a:chExt cx="2688713" cy="1978185"/>
            </a:xfrm>
          </p:grpSpPr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1C825BC-7A36-801A-A0E7-EF4FDA7701D4}"/>
                  </a:ext>
                </a:extLst>
              </p:cNvPr>
              <p:cNvSpPr txBox="1"/>
              <p:nvPr/>
            </p:nvSpPr>
            <p:spPr>
              <a:xfrm>
                <a:off x="9364852" y="883096"/>
                <a:ext cx="268871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出荷</a:t>
                </a:r>
                <a:r>
                  <a:rPr lang="en-US" altLang="zh-CN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上线仕样</a:t>
                </a: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59F01CF1-6CE4-939D-D45F-4DFC2A4F117F}"/>
                  </a:ext>
                </a:extLst>
              </p:cNvPr>
              <p:cNvSpPr/>
              <p:nvPr/>
            </p:nvSpPr>
            <p:spPr bwMode="auto">
              <a:xfrm>
                <a:off x="9364852" y="838200"/>
                <a:ext cx="2660524" cy="1978185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2ABB188-F679-8E2D-346E-30CC8DF037BA}"/>
                  </a:ext>
                </a:extLst>
              </p:cNvPr>
              <p:cNvSpPr txBox="1"/>
              <p:nvPr/>
            </p:nvSpPr>
            <p:spPr>
              <a:xfrm>
                <a:off x="9504161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  <p:sp>
            <p:nvSpPr>
              <p:cNvPr id="62" name="右箭头 7">
                <a:extLst>
                  <a:ext uri="{FF2B5EF4-FFF2-40B4-BE49-F238E27FC236}">
                    <a16:creationId xmlns:a16="http://schemas.microsoft.com/office/drawing/2014/main" id="{DB3373A7-AF0B-38A0-BD1B-56DE5EAD4607}"/>
                  </a:ext>
                </a:extLst>
              </p:cNvPr>
              <p:cNvSpPr/>
              <p:nvPr/>
            </p:nvSpPr>
            <p:spPr>
              <a:xfrm>
                <a:off x="10562618" y="1476235"/>
                <a:ext cx="293183" cy="310636"/>
              </a:xfrm>
              <a:prstGeom prst="rightArrow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E214D0F8-405D-311B-227E-E80780D10C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9468317" y="1270617"/>
                <a:ext cx="984521" cy="854871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ED302865-AED8-342A-2DEF-91BB625A29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10896946" y="1274688"/>
                <a:ext cx="984521" cy="854871"/>
              </a:xfrm>
              <a:prstGeom prst="rect">
                <a:avLst/>
              </a:prstGeom>
            </p:spPr>
          </p:pic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3D45AF75-7736-1F01-E97E-C7D2A4838DFB}"/>
                  </a:ext>
                </a:extLst>
              </p:cNvPr>
              <p:cNvSpPr txBox="1"/>
              <p:nvPr/>
            </p:nvSpPr>
            <p:spPr>
              <a:xfrm>
                <a:off x="10861912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岚图通用金属铁框</a:t>
                </a: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C96F36A-E008-4177-3D7F-753B4F8140D0}"/>
                  </a:ext>
                </a:extLst>
              </p:cNvPr>
              <p:cNvSpPr txBox="1"/>
              <p:nvPr/>
            </p:nvSpPr>
            <p:spPr>
              <a:xfrm>
                <a:off x="10896946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</p:grp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BD07BFD7-7288-AE09-EDF8-9408A9523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204" y="1109338"/>
              <a:ext cx="1073576" cy="890145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2982F4FC-0E79-A99E-878E-CC15928D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670" y="1110626"/>
              <a:ext cx="1073576" cy="909488"/>
            </a:xfrm>
            <a:prstGeom prst="rect">
              <a:avLst/>
            </a:prstGeom>
          </p:spPr>
        </p:pic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DD158474-9A12-CDCD-7B6B-88B09B1A03C8}"/>
              </a:ext>
            </a:extLst>
          </p:cNvPr>
          <p:cNvSpPr txBox="1"/>
          <p:nvPr/>
        </p:nvSpPr>
        <p:spPr>
          <a:xfrm>
            <a:off x="7945337" y="3505200"/>
            <a:ext cx="4163782" cy="29627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可包装数：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400" b="1" kern="0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b="1" kern="0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重量（总重量不得大于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1000kg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单件零件重量：前盘：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13.5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kg/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单层包材重量：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料笼重量：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④总重量：前盘：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13.5*56+4*7+150=934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11.1*72+4*9+150=985.2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</p:txBody>
      </p:sp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BC1C64C7-AE6F-DDB3-25FF-6E782765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879922"/>
              </p:ext>
            </p:extLst>
          </p:nvPr>
        </p:nvGraphicFramePr>
        <p:xfrm>
          <a:off x="112420" y="2133600"/>
          <a:ext cx="3897009" cy="12793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6208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5458129"/>
                    </a:ext>
                  </a:extLst>
                </a:gridCol>
              </a:tblGrid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盘厚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13.5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11.1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230920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岚图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H77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14.2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655816"/>
                  </a:ext>
                </a:extLst>
              </a:tr>
            </a:tbl>
          </a:graphicData>
        </a:graphic>
      </p:graphicFrame>
      <p:sp>
        <p:nvSpPr>
          <p:cNvPr id="74" name="文本框 73">
            <a:extLst>
              <a:ext uri="{FF2B5EF4-FFF2-40B4-BE49-F238E27FC236}">
                <a16:creationId xmlns:a16="http://schemas.microsoft.com/office/drawing/2014/main" id="{DB006635-BDAF-E672-8127-D59140E78672}"/>
              </a:ext>
            </a:extLst>
          </p:cNvPr>
          <p:cNvSpPr txBox="1"/>
          <p:nvPr/>
        </p:nvSpPr>
        <p:spPr>
          <a:xfrm>
            <a:off x="-19546" y="568841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前盘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1D7821BC-0777-4769-3D2B-5063B1D44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68" y="583788"/>
            <a:ext cx="1255877" cy="132252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07197AD7-E3F4-F350-B38C-A580EBAF5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450" y="596080"/>
            <a:ext cx="1255877" cy="1373922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F4C77E07-E884-B28D-44E7-FB96501EEDDF}"/>
              </a:ext>
            </a:extLst>
          </p:cNvPr>
          <p:cNvSpPr txBox="1"/>
          <p:nvPr/>
        </p:nvSpPr>
        <p:spPr>
          <a:xfrm>
            <a:off x="1965457" y="534232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后盘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A393B00-9324-C9FB-A6FF-875B7D539AE4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前盘包装数为 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笼，后盘包装数为 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DB83B1C-339F-7BE1-9A82-2A3125B0F51E}"/>
              </a:ext>
            </a:extLst>
          </p:cNvPr>
          <p:cNvSpPr/>
          <p:nvPr/>
        </p:nvSpPr>
        <p:spPr bwMode="auto">
          <a:xfrm>
            <a:off x="5373292" y="5576349"/>
            <a:ext cx="1386714" cy="748251"/>
          </a:xfrm>
          <a:prstGeom prst="roundRect">
            <a:avLst/>
          </a:prstGeom>
          <a:solidFill>
            <a:schemeClr val="accent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/>
              <a:t>前盘：</a:t>
            </a:r>
            <a:r>
              <a:rPr lang="en-US" altLang="zh-CN" dirty="0"/>
              <a:t>7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/>
              <a:t>后盘：</a:t>
            </a:r>
            <a:r>
              <a:rPr lang="en-US" altLang="zh-CN" dirty="0"/>
              <a:t>9</a:t>
            </a:r>
            <a:r>
              <a:rPr lang="zh-CN" altLang="en-US" dirty="0"/>
              <a:t>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5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FF9F1-7404-4EF2-6225-D001A437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捆包成本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F3F011-C183-D8DD-1817-76983F0B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3585AE-003B-0C9A-DB88-00EEEFA48663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前盘捆包成本为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0.96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3C44C85-E814-6804-BBA1-523F6C3C4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900342"/>
              </p:ext>
            </p:extLst>
          </p:nvPr>
        </p:nvGraphicFramePr>
        <p:xfrm>
          <a:off x="1142207" y="543154"/>
          <a:ext cx="9982200" cy="5972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334828" imgH="6781939" progId="Excel.Sheet.12">
                  <p:embed/>
                </p:oleObj>
              </mc:Choice>
              <mc:Fallback>
                <p:oleObj name="Worksheet" r:id="rId2" imgW="11334828" imgH="67819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2207" y="543154"/>
                        <a:ext cx="9982200" cy="5972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148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1A1F-B05D-8AE8-C9C6-CCEDA71D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E2F3A-D3B4-0711-2129-CCBCB7F7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捆包成本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12AF11-EB5A-6A7B-6C38-CDD4D7D9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BAA9C3-5F73-27E3-7839-86D3D6699A64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后盘捆包成本为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0.83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AB36E88-489F-93C6-DC97-BA90F37FD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838816"/>
              </p:ext>
            </p:extLst>
          </p:nvPr>
        </p:nvGraphicFramePr>
        <p:xfrm>
          <a:off x="1370806" y="641200"/>
          <a:ext cx="9810081" cy="585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360124" imgH="6781939" progId="Excel.Sheet.12">
                  <p:embed/>
                </p:oleObj>
              </mc:Choice>
              <mc:Fallback>
                <p:oleObj name="Worksheet" r:id="rId2" imgW="11360124" imgH="67819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0806" y="641200"/>
                        <a:ext cx="9810081" cy="585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325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F9580-1298-06C0-DDEB-24BAD2A8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运输方案建议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DBEC526-3BE7-2169-9EDB-A82B54463D4F}"/>
              </a:ext>
            </a:extLst>
          </p:cNvPr>
          <p:cNvSpPr txBox="1">
            <a:spLocks/>
          </p:cNvSpPr>
          <p:nvPr/>
        </p:nvSpPr>
        <p:spPr bwMode="auto">
          <a:xfrm>
            <a:off x="380206" y="4800600"/>
            <a:ext cx="32964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0000"/>
                </a:solidFill>
              </a:rPr>
              <a:t>运输建议：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B28F00F-3BA0-5C25-939C-5ACF023ECF1C}"/>
              </a:ext>
            </a:extLst>
          </p:cNvPr>
          <p:cNvSpPr txBox="1"/>
          <p:nvPr/>
        </p:nvSpPr>
        <p:spPr>
          <a:xfrm>
            <a:off x="284174" y="810985"/>
            <a:ext cx="7226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天，月工作日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20.5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日量产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288247-9387-34CA-ED06-6402A16E327F}"/>
              </a:ext>
            </a:extLst>
          </p:cNvPr>
          <p:cNvSpPr txBox="1">
            <a:spLocks/>
          </p:cNvSpPr>
          <p:nvPr/>
        </p:nvSpPr>
        <p:spPr bwMode="auto">
          <a:xfrm>
            <a:off x="741374" y="5257800"/>
            <a:ext cx="107640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0" kern="0" dirty="0">
                <a:solidFill>
                  <a:srgbClr val="000000"/>
                </a:solidFill>
              </a:rPr>
              <a:t>DHAC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—&gt;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四川省成都市经济技术开发区（龙泉驿区）中转库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—&gt;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客户（自行到中转库取货）</a:t>
            </a:r>
            <a:endParaRPr lang="zh-CN" altLang="en-US" sz="2000" b="0" kern="0" dirty="0">
              <a:solidFill>
                <a:srgbClr val="000000"/>
              </a:solidFill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B0F3950-326E-8D07-F008-A48751BBB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575299"/>
              </p:ext>
            </p:extLst>
          </p:nvPr>
        </p:nvGraphicFramePr>
        <p:xfrm>
          <a:off x="661020" y="2978056"/>
          <a:ext cx="11072986" cy="150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499876" imgH="1561961" progId="Excel.Sheet.12">
                  <p:embed/>
                </p:oleObj>
              </mc:Choice>
              <mc:Fallback>
                <p:oleObj name="Worksheet" r:id="rId3" imgW="11499876" imgH="15619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020" y="2978056"/>
                        <a:ext cx="11072986" cy="1504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36A4FFF-21A5-A67C-358F-64F8CA67E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71709"/>
              </p:ext>
            </p:extLst>
          </p:nvPr>
        </p:nvGraphicFramePr>
        <p:xfrm>
          <a:off x="685006" y="1219200"/>
          <a:ext cx="11049000" cy="168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1499876" imgH="1790561" progId="Excel.Sheet.12">
                  <p:embed/>
                </p:oleObj>
              </mc:Choice>
              <mc:Fallback>
                <p:oleObj name="Worksheet" r:id="rId5" imgW="11499876" imgH="17905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006" y="1219200"/>
                        <a:ext cx="11049000" cy="1682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80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/>
              <a:t>7</a:t>
            </a:fld>
            <a:endParaRPr lang="en-US" altLang="zh-CN"/>
          </a:p>
        </p:txBody>
      </p:sp>
      <p:pic>
        <p:nvPicPr>
          <p:cNvPr id="7065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95"/>
          <a:stretch>
            <a:fillRect/>
          </a:stretch>
        </p:blipFill>
        <p:spPr bwMode="auto">
          <a:xfrm>
            <a:off x="0" y="2527935"/>
            <a:ext cx="12195810" cy="4330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0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1" r="8778"/>
          <a:stretch>
            <a:fillRect/>
          </a:stretch>
        </p:blipFill>
        <p:spPr bwMode="auto">
          <a:xfrm>
            <a:off x="5104765" y="5181600"/>
            <a:ext cx="6638925" cy="152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842821" y="2057227"/>
            <a:ext cx="251079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 </a:t>
            </a:r>
            <a:r>
              <a:rPr lang="en-US" altLang="zh-CN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</a:t>
            </a:r>
            <a:endParaRPr lang="zh-CN" altLang="en-US" sz="6600" b="1" dirty="0">
              <a:solidFill>
                <a:srgbClr val="E500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资源 3-恢复的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715" y="3728085"/>
            <a:ext cx="4613910" cy="26530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M1MjI3Yjc2ZjZlYmZiYTIwNjFkYzk5MzA1MDcz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19,&quot;width&quot;:192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6,&quot;width&quot;:104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5,&quot;width&quot;:5713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577</Words>
  <Application>Microsoft Office PowerPoint</Application>
  <PresentationFormat>自定义</PresentationFormat>
  <Paragraphs>150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Microsoft YaHei UI</vt:lpstr>
      <vt:lpstr>宋体</vt:lpstr>
      <vt:lpstr>微软雅黑</vt:lpstr>
      <vt:lpstr>Arial</vt:lpstr>
      <vt:lpstr>Calibri</vt:lpstr>
      <vt:lpstr>Wingdings</vt:lpstr>
      <vt:lpstr>Office 主题</vt:lpstr>
      <vt:lpstr>Worksheet</vt:lpstr>
      <vt:lpstr>PowerPoint 演示文稿</vt:lpstr>
      <vt:lpstr>报价依赖</vt:lpstr>
      <vt:lpstr>包装方案检讨-通用金属铁框</vt:lpstr>
      <vt:lpstr>捆包成本</vt:lpstr>
      <vt:lpstr>捆包成本</vt:lpstr>
      <vt:lpstr>运输方案建议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office</cp:lastModifiedBy>
  <cp:revision>226</cp:revision>
  <cp:lastPrinted>2025-05-22T04:03:42Z</cp:lastPrinted>
  <dcterms:created xsi:type="dcterms:W3CDTF">2018-11-07T02:56:00Z</dcterms:created>
  <dcterms:modified xsi:type="dcterms:W3CDTF">2025-07-12T14:26:37Z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822A94F8AA72452DB9C145218CAE9CEB</vt:lpwstr>
  </property>
  <property fmtid="{D5CDD505-2E9C-101B-9397-08002B2CF9AE}" pid="4" name="KSOProductBuildVer">
    <vt:lpwstr>2052-11.1.0.12313</vt:lpwstr>
  </property>
</Properties>
</file>