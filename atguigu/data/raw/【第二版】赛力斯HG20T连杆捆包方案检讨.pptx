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4"/>
  </p:notesMasterIdLst>
  <p:handoutMasterIdLst>
    <p:handoutMasterId r:id="rId15"/>
  </p:handoutMasterIdLst>
  <p:sldIdLst>
    <p:sldId id="257" r:id="rId3"/>
    <p:sldId id="265" r:id="rId4"/>
    <p:sldId id="280" r:id="rId5"/>
    <p:sldId id="281" r:id="rId6"/>
    <p:sldId id="284" r:id="rId7"/>
    <p:sldId id="259" r:id="rId8"/>
    <p:sldId id="277" r:id="rId9"/>
    <p:sldId id="278" r:id="rId10"/>
    <p:sldId id="279" r:id="rId11"/>
    <p:sldId id="275" r:id="rId12"/>
    <p:sldId id="285" r:id="rId13"/>
  </p:sldIdLst>
  <p:sldSz cx="12190413" cy="6858000"/>
  <p:notesSz cx="6858000" cy="9144000"/>
  <p:custDataLst>
    <p:tags r:id="rId1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9ED6"/>
    <a:srgbClr val="7C82CA"/>
    <a:srgbClr val="555D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21" autoAdjust="0"/>
    <p:restoredTop sz="94660"/>
  </p:normalViewPr>
  <p:slideViewPr>
    <p:cSldViewPr>
      <p:cViewPr varScale="1">
        <p:scale>
          <a:sx n="57" d="100"/>
          <a:sy n="57" d="100"/>
        </p:scale>
        <p:origin x="1056" y="40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6E6CA374-CE27-4038-AC7B-C7C88223D294}" type="datetimeFigureOut">
              <a:rPr lang="zh-CN" altLang="en-US"/>
              <a:t>2025/5/22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EA28B1D8-63D4-4E05-95F4-A7E533659FD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6092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37AA9BD0-7134-47AD-9666-4B4E51F4A409}" type="datetimeFigureOut">
              <a:rPr lang="zh-CN" altLang="en-US"/>
              <a:t>2025/5/22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264BD2DD-BF31-4F3E-808C-185F4AAE676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8497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0B0FB-791F-94A5-E677-87611491D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BAE9925F-4E6B-8555-E896-5C2D316211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6D42647B-0BA8-DC49-1B13-62284214E7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295F1BEC-D970-630E-A2AB-B47844B08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966515-9427-4891-97A4-9E628F0302A4}" type="slidenum">
              <a:rPr lang="zh-CN" altLang="en-US" smtClean="0">
                <a:latin typeface="Arial" panose="020B0604020202020204" pitchFamily="34" charset="0"/>
              </a:rPr>
              <a:t>3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3423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E5ABD-EC8D-5798-0C0D-2C0E8647B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1B52E748-7D74-0A6B-EF7B-B984F0BB87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62AB1BAB-9033-4934-34AB-A9307F2AFE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E1FC43A4-543E-199B-01D9-EADE04389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966515-9427-4891-97A4-9E628F0302A4}" type="slidenum">
              <a:rPr lang="zh-CN" altLang="en-US" smtClean="0">
                <a:latin typeface="Arial" panose="020B0604020202020204" pitchFamily="34" charset="0"/>
              </a:rPr>
              <a:t>4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487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55AAD-9623-F469-1063-B519D57D8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0AAFC528-FBC7-AEF7-B082-7FA4E3E3DF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69E28937-42F2-7F6C-D1F3-6F8C2C8851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7B61D604-3EA2-2C28-60C0-BF82A2B82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966515-9427-4891-97A4-9E628F0302A4}" type="slidenum">
              <a:rPr lang="zh-CN" altLang="en-US" smtClean="0">
                <a:solidFill>
                  <a:prstClr val="black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985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562" y="3886200"/>
            <a:ext cx="8533289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4950C4-95B1-473D-BA0F-6B750542689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3B1D5-6B4D-4D5A-B22E-E381F3C10BD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6901"/>
            <a:ext cx="1036185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6713"/>
            <a:ext cx="10361851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5125F8-855A-4A53-9E8F-E674C1F1120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3DC5C-9CF5-4723-AFBE-DC5ED6DB2D6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113"/>
            <a:ext cx="53862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4875"/>
            <a:ext cx="53862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1" y="1535113"/>
            <a:ext cx="53883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1" y="2174875"/>
            <a:ext cx="53883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E7E1EC-EBB9-45FB-8032-4BC68789EDE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288" y="141516"/>
            <a:ext cx="8610600" cy="381000"/>
          </a:xfrm>
        </p:spPr>
        <p:txBody>
          <a:bodyPr/>
          <a:lstStyle>
            <a:lvl1pPr algn="l"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345613" y="6477000"/>
            <a:ext cx="2844800" cy="381000"/>
          </a:xfrm>
        </p:spPr>
        <p:txBody>
          <a:bodyPr/>
          <a:lstStyle>
            <a:lvl1pPr>
              <a:defRPr sz="20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D87BCED-6C00-41A0-9FAE-AC08F0FDD3A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3ADCC-B09D-455F-AC51-4A4A480F064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3050"/>
            <a:ext cx="401056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113" y="273051"/>
            <a:ext cx="681477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521" y="1435101"/>
            <a:ext cx="401056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92B87-9AA0-4C48-A99C-4ABAE0424FD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06" y="612775"/>
            <a:ext cx="731424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06" y="5367338"/>
            <a:ext cx="731424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01B3CB-1110-46FF-97AB-EB311B4EC76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64167C-1F14-42C7-9102-023123C9161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639"/>
            <a:ext cx="2742843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639"/>
            <a:ext cx="8025355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C9C5DC-7727-4C28-8A3B-557083EE90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 txBox="1">
            <a:spLocks noChangeArrowheads="1"/>
          </p:cNvSpPr>
          <p:nvPr userDrawn="1"/>
        </p:nvSpPr>
        <p:spPr>
          <a:xfrm>
            <a:off x="11023796" y="17377"/>
            <a:ext cx="1200785" cy="501650"/>
          </a:xfrm>
          <a:prstGeom prst="rect">
            <a:avLst/>
          </a:prstGeom>
          <a:noFill/>
        </p:spPr>
        <p:txBody>
          <a:bodyPr lIns="36000" tIns="36000" rIns="36000" bIns="36000" anchor="ctr" anchorCtr="1">
            <a:spAutoFit/>
          </a:bodyPr>
          <a:lstStyle>
            <a:defPPr>
              <a:defRPr lang="ja-JP"/>
            </a:defPPr>
            <a:lvl1pPr marL="0" algn="r" defTabSz="914400" rtl="0" eaLnBrk="1" latinLnBrk="0" hangingPunct="1"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43915" fontAlgn="auto">
              <a:spcBef>
                <a:spcPts val="0"/>
              </a:spcBef>
              <a:spcAft>
                <a:spcPts val="0"/>
              </a:spcAft>
              <a:defRPr/>
            </a:pPr>
            <a:fld id="{F77C59B8-D2EF-4BE6-B331-30F3CD625A41}" type="slidenum">
              <a:rPr lang="en-US" altLang="ja-JP" sz="1400" u="sng" smtClean="0">
                <a:solidFill>
                  <a:prstClr val="black"/>
                </a:solidFill>
                <a:effectLst>
                  <a:glow rad="101600">
                    <a:prstClr val="white">
                      <a:alpha val="40000"/>
                    </a:prst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pPr algn="ctr" defTabSz="843915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ja-JP" sz="1400" u="sng" dirty="0">
              <a:solidFill>
                <a:prstClr val="black"/>
              </a:solidFill>
              <a:effectLst>
                <a:glow rad="101600">
                  <a:prstClr val="white">
                    <a:alpha val="40000"/>
                  </a:prstClr>
                </a:glo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84391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ja-JP" sz="1400" dirty="0">
                <a:solidFill>
                  <a:prstClr val="black"/>
                </a:solidFill>
                <a:effectLst>
                  <a:glow rad="101600">
                    <a:prstClr val="white">
                      <a:alpha val="40000"/>
                    </a:prst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288" y="141516"/>
            <a:ext cx="8610600" cy="381000"/>
          </a:xfrm>
        </p:spPr>
        <p:txBody>
          <a:bodyPr/>
          <a:lstStyle>
            <a:lvl1pPr algn="l">
              <a:defRPr sz="24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24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12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121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5921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6013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56A161C-2B7C-4D0A-BCF9-F6CF9872113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12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121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592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6013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148E854-0CE9-468A-9540-D762FDC9A248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409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1.jpg"/><Relationship Id="rId5" Type="http://schemas.microsoft.com/office/2007/relationships/hdphoto" Target="../media/hdphoto1.wdp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6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4B0DC9-7AC4-4F09-87B0-46736CE7FC41}" type="slidenum">
              <a:rPr lang="en-US" altLang="zh-CN" sz="2000" smtClean="0">
                <a:solidFill>
                  <a:srgbClr val="A6A6A6"/>
                </a:solidFill>
                <a:latin typeface="微软雅黑" panose="020B0503020204020204" pitchFamily="34" charset="-122"/>
              </a:rPr>
              <a:t>1</a:t>
            </a:fld>
            <a:endParaRPr lang="en-US" altLang="zh-CN" sz="2000">
              <a:solidFill>
                <a:srgbClr val="A6A6A6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125" name="组合 8"/>
          <p:cNvGrpSpPr/>
          <p:nvPr/>
        </p:nvGrpSpPr>
        <p:grpSpPr bwMode="auto">
          <a:xfrm>
            <a:off x="227806" y="5448300"/>
            <a:ext cx="822325" cy="1028700"/>
            <a:chOff x="9399" y="1383"/>
            <a:chExt cx="1293" cy="1618"/>
          </a:xfrm>
        </p:grpSpPr>
        <p:pic>
          <p:nvPicPr>
            <p:cNvPr id="5126" name="图片 9" descr="密级B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7" y="1383"/>
              <a:ext cx="1016" cy="1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7" name="Text Box 6"/>
            <p:cNvSpPr txBox="1">
              <a:spLocks noChangeArrowheads="1"/>
            </p:cNvSpPr>
            <p:nvPr/>
          </p:nvSpPr>
          <p:spPr bwMode="auto">
            <a:xfrm>
              <a:off x="9399" y="2374"/>
              <a:ext cx="1293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zh-CN" sz="1200">
                  <a:latin typeface="Calibri" panose="020F050202020403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内部信息</a:t>
              </a:r>
              <a:endParaRPr lang="zh-CN" altLang="zh-CN" sz="1000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文本框 3"/>
          <p:cNvSpPr txBox="1"/>
          <p:nvPr/>
        </p:nvSpPr>
        <p:spPr>
          <a:xfrm>
            <a:off x="-1" y="895975"/>
            <a:ext cx="12190413" cy="21778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48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赛力斯</a:t>
            </a:r>
            <a:r>
              <a:rPr lang="en-US" altLang="zh-CN" sz="48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HG20T</a:t>
            </a:r>
            <a:r>
              <a:rPr lang="zh-CN" altLang="en-US" sz="48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连杆</a:t>
            </a:r>
            <a:endParaRPr lang="en-US" altLang="zh-CN" sz="48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48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捆包方案及成本报价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0" y="3877270"/>
            <a:ext cx="12190412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供应保证部生产管理科</a:t>
            </a:r>
            <a:endParaRPr lang="en-US" altLang="zh-CN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04695"/>
              </p:ext>
            </p:extLst>
          </p:nvPr>
        </p:nvGraphicFramePr>
        <p:xfrm>
          <a:off x="1142206" y="5330814"/>
          <a:ext cx="6959073" cy="11461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9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承 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确  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作  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98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xfrm>
            <a:off x="503238" y="103188"/>
            <a:ext cx="8610600" cy="38100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检讨依赖</a:t>
            </a:r>
          </a:p>
        </p:txBody>
      </p:sp>
      <p:pic>
        <p:nvPicPr>
          <p:cNvPr id="6" name="图片 5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E7245315-FC5A-CA62-3C2C-4415BEDF12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68" y="1066800"/>
            <a:ext cx="1132036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571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9ED41-E816-581A-1C4A-4EE4211E8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图示&#10;&#10;AI 生成的内容可能不正确。">
            <a:extLst>
              <a:ext uri="{FF2B5EF4-FFF2-40B4-BE49-F238E27FC236}">
                <a16:creationId xmlns:a16="http://schemas.microsoft.com/office/drawing/2014/main" id="{500BAA81-0320-E0B8-C1F5-179B39555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349" y="4095313"/>
            <a:ext cx="2530777" cy="2035726"/>
          </a:xfrm>
          <a:prstGeom prst="rect">
            <a:avLst/>
          </a:prstGeom>
        </p:spPr>
      </p:pic>
      <p:sp>
        <p:nvSpPr>
          <p:cNvPr id="4" name="文本占位符 8">
            <a:extLst>
              <a:ext uri="{FF2B5EF4-FFF2-40B4-BE49-F238E27FC236}">
                <a16:creationId xmlns:a16="http://schemas.microsoft.com/office/drawing/2014/main" id="{14AE3C28-3E91-73B9-B913-C109765E9212}"/>
              </a:ext>
            </a:extLst>
          </p:cNvPr>
          <p:cNvSpPr txBox="1">
            <a:spLocks/>
          </p:cNvSpPr>
          <p:nvPr/>
        </p:nvSpPr>
        <p:spPr bwMode="auto">
          <a:xfrm>
            <a:off x="-30364" y="6498000"/>
            <a:ext cx="12190413" cy="360000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连杆的包装数为</a:t>
            </a:r>
            <a:r>
              <a:rPr lang="en-US" altLang="zh-CN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1600</a:t>
            </a:r>
            <a:r>
              <a: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笼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9B673187-D674-F713-1ED4-842E18710956}"/>
              </a:ext>
            </a:extLst>
          </p:cNvPr>
          <p:cNvSpPr txBox="1">
            <a:spLocks/>
          </p:cNvSpPr>
          <p:nvPr/>
        </p:nvSpPr>
        <p:spPr>
          <a:xfrm>
            <a:off x="456406" y="152400"/>
            <a:ext cx="63246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连杆捆包方案检讨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285ADE7-9F51-11C8-8F05-677C56AA189B}"/>
              </a:ext>
            </a:extLst>
          </p:cNvPr>
          <p:cNvGraphicFramePr>
            <a:graphicFrameLocks noGrp="1"/>
          </p:cNvGraphicFramePr>
          <p:nvPr/>
        </p:nvGraphicFramePr>
        <p:xfrm>
          <a:off x="225166" y="2514600"/>
          <a:ext cx="4031388" cy="1126671"/>
        </p:xfrm>
        <a:graphic>
          <a:graphicData uri="http://schemas.openxmlformats.org/drawingml/2006/table">
            <a:tbl>
              <a:tblPr/>
              <a:tblGrid>
                <a:gridCol w="802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2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570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长（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mm）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宽</a:t>
                      </a:r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厚</a:t>
                      </a:r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mm)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重量（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Kg）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4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HG20T</a:t>
                      </a:r>
                      <a:r>
                        <a:rPr lang="zh-CN" altLang="en-US" sz="1100" b="1" i="0" u="none" strike="noStrike" dirty="0"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连杆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0.481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149360"/>
                  </a:ext>
                </a:extLst>
              </a:tr>
              <a:tr h="4104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64A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连杆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0.321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89074"/>
                  </a:ext>
                </a:extLst>
              </a:tr>
            </a:tbl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27CAC0A3-8611-D27C-F7E6-4F89C75ECC97}"/>
              </a:ext>
            </a:extLst>
          </p:cNvPr>
          <p:cNvSpPr txBox="1"/>
          <p:nvPr/>
        </p:nvSpPr>
        <p:spPr>
          <a:xfrm>
            <a:off x="864587" y="6169223"/>
            <a:ext cx="1114408" cy="307777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每小盒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5DCC28C-0094-BF1D-316F-FC315B2B0812}"/>
              </a:ext>
            </a:extLst>
          </p:cNvPr>
          <p:cNvSpPr txBox="1"/>
          <p:nvPr/>
        </p:nvSpPr>
        <p:spPr>
          <a:xfrm>
            <a:off x="3867397" y="6169223"/>
            <a:ext cx="1114408" cy="307777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每层放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盒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5963297-C93D-36F8-B06C-2B257EAB341E}"/>
              </a:ext>
            </a:extLst>
          </p:cNvPr>
          <p:cNvSpPr txBox="1"/>
          <p:nvPr/>
        </p:nvSpPr>
        <p:spPr>
          <a:xfrm>
            <a:off x="8313130" y="4147782"/>
            <a:ext cx="3771436" cy="2034018"/>
          </a:xfrm>
          <a:prstGeom prst="rect">
            <a:avLst/>
          </a:prstGeom>
          <a:solidFill>
            <a:sysClr val="window" lastClr="FFFFFF">
              <a:lumMod val="95000"/>
            </a:sysClr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可包装数：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可载层数：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笼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每层可装：</a:t>
            </a:r>
            <a:r>
              <a:rPr lang="en-US" altLang="zh-CN" sz="1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盒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层*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320 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可装数量：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× 32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1600 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r>
              <a:rPr lang="en-US" altLang="zh-CN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笼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重量：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160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0*0.481+1</a:t>
            </a:r>
            <a:r>
              <a:rPr lang="en-US" altLang="zh-CN" sz="1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.2*50</a:t>
            </a:r>
            <a:r>
              <a:rPr lang="zh-CN" altLang="en-US" sz="8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（资材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重量）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+150</a:t>
            </a: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（笼重）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6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979.6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KG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786B8CD4-D797-7865-6213-964594218CC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826" r="2129" b="24840"/>
          <a:stretch/>
        </p:blipFill>
        <p:spPr>
          <a:xfrm rot="16200000">
            <a:off x="553776" y="3809666"/>
            <a:ext cx="1933579" cy="2590798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AC3A1BEE-B7D2-5D1E-D251-88E1191FC713}"/>
              </a:ext>
            </a:extLst>
          </p:cNvPr>
          <p:cNvSpPr txBox="1"/>
          <p:nvPr/>
        </p:nvSpPr>
        <p:spPr>
          <a:xfrm>
            <a:off x="1076184" y="376351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单盒式样</a:t>
            </a:r>
            <a:endParaRPr lang="zh-CN" altLang="en-US" sz="11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031A888-AC07-DD9A-96D8-2E5EFFD5015A}"/>
              </a:ext>
            </a:extLst>
          </p:cNvPr>
          <p:cNvSpPr txBox="1"/>
          <p:nvPr/>
        </p:nvSpPr>
        <p:spPr>
          <a:xfrm>
            <a:off x="3820795" y="376329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单层式样</a:t>
            </a:r>
            <a:endParaRPr lang="zh-CN" altLang="en-US" sz="11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0434DD5-7418-7071-B627-80186FF9B3EE}"/>
              </a:ext>
            </a:extLst>
          </p:cNvPr>
          <p:cNvSpPr txBox="1"/>
          <p:nvPr/>
        </p:nvSpPr>
        <p:spPr>
          <a:xfrm>
            <a:off x="6194464" y="376329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单箱层数</a:t>
            </a:r>
          </a:p>
        </p:txBody>
      </p:sp>
      <p:pic>
        <p:nvPicPr>
          <p:cNvPr id="22" name="图片 21" descr="图示, 工程绘图&#10;&#10;AI 生成的内容可能不正确。">
            <a:extLst>
              <a:ext uri="{FF2B5EF4-FFF2-40B4-BE49-F238E27FC236}">
                <a16:creationId xmlns:a16="http://schemas.microsoft.com/office/drawing/2014/main" id="{28E16342-F72A-FD4C-E660-5C9DC494CEE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75" y="637862"/>
            <a:ext cx="2277931" cy="182833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922D49B-609B-3F98-93DB-0FCAF7D74A1B}"/>
              </a:ext>
            </a:extLst>
          </p:cNvPr>
          <p:cNvSpPr txBox="1"/>
          <p:nvPr/>
        </p:nvSpPr>
        <p:spPr>
          <a:xfrm>
            <a:off x="5942806" y="6131039"/>
            <a:ext cx="2265364" cy="307777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承重要求，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每笼只能放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8F362B1-F6F7-6232-EE6B-564359D41C26}"/>
              </a:ext>
            </a:extLst>
          </p:cNvPr>
          <p:cNvSpPr txBox="1"/>
          <p:nvPr/>
        </p:nvSpPr>
        <p:spPr>
          <a:xfrm>
            <a:off x="4037806" y="523137"/>
            <a:ext cx="3220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</a:rPr>
              <a:t>通用折叠金属铁框</a:t>
            </a: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DA412080-D48F-F3DC-C2B9-622C08244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197789"/>
              </p:ext>
            </p:extLst>
          </p:nvPr>
        </p:nvGraphicFramePr>
        <p:xfrm>
          <a:off x="4403895" y="2622387"/>
          <a:ext cx="4129259" cy="75262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00711">
                  <a:extLst>
                    <a:ext uri="{9D8B030D-6E8A-4147-A177-3AD203B41FA5}">
                      <a16:colId xmlns:a16="http://schemas.microsoft.com/office/drawing/2014/main" val="208921867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1588757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192228113"/>
                    </a:ext>
                  </a:extLst>
                </a:gridCol>
                <a:gridCol w="836517">
                  <a:extLst>
                    <a:ext uri="{9D8B030D-6E8A-4147-A177-3AD203B41FA5}">
                      <a16:colId xmlns:a16="http://schemas.microsoft.com/office/drawing/2014/main" val="2700754590"/>
                    </a:ext>
                  </a:extLst>
                </a:gridCol>
                <a:gridCol w="915631">
                  <a:extLst>
                    <a:ext uri="{9D8B030D-6E8A-4147-A177-3AD203B41FA5}">
                      <a16:colId xmlns:a16="http://schemas.microsoft.com/office/drawing/2014/main" val="2564304899"/>
                    </a:ext>
                  </a:extLst>
                </a:gridCol>
              </a:tblGrid>
              <a:tr h="3819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容器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内长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内宽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内高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(mm)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重量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(kg)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821558"/>
                  </a:ext>
                </a:extLst>
              </a:tr>
              <a:tr h="3706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料笼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1310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1120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950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150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34255"/>
                  </a:ext>
                </a:extLst>
              </a:tr>
            </a:tbl>
          </a:graphicData>
        </a:graphic>
      </p:graphicFrame>
      <p:pic>
        <p:nvPicPr>
          <p:cNvPr id="23" name="图片 22">
            <a:extLst>
              <a:ext uri="{FF2B5EF4-FFF2-40B4-BE49-F238E27FC236}">
                <a16:creationId xmlns:a16="http://schemas.microsoft.com/office/drawing/2014/main" id="{850964EE-CBDB-9251-BF99-DC6D3E9573D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43" b="89773" l="9933" r="91246"/>
                    </a14:imgEffect>
                  </a14:imgLayer>
                </a14:imgProps>
              </a:ext>
            </a:extLst>
          </a:blip>
          <a:srcRect l="13468" t="6819" r="7071" b="11363"/>
          <a:stretch/>
        </p:blipFill>
        <p:spPr>
          <a:xfrm>
            <a:off x="5104606" y="857054"/>
            <a:ext cx="2514600" cy="1733745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60F7BF8A-DF80-EDEE-F13F-5640B8103439}"/>
              </a:ext>
            </a:extLst>
          </p:cNvPr>
          <p:cNvSpPr txBox="1"/>
          <p:nvPr/>
        </p:nvSpPr>
        <p:spPr>
          <a:xfrm>
            <a:off x="5828239" y="4622721"/>
            <a:ext cx="4037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料盒尺寸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E2ED5C64-7D42-67BB-660C-FEF8A4D703A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8797"/>
          <a:stretch/>
        </p:blipFill>
        <p:spPr>
          <a:xfrm>
            <a:off x="6220689" y="4426561"/>
            <a:ext cx="1970655" cy="1224898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6FFE8759-364A-87A9-DA67-F3080C3C01C1}"/>
              </a:ext>
            </a:extLst>
          </p:cNvPr>
          <p:cNvSpPr txBox="1"/>
          <p:nvPr/>
        </p:nvSpPr>
        <p:spPr>
          <a:xfrm>
            <a:off x="5999530" y="5637664"/>
            <a:ext cx="6110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950/150=6.33(</a:t>
            </a:r>
            <a:r>
              <a:rPr lang="zh-CN" altLang="en-US" sz="18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层）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0C96F6B-750B-D397-90B0-744DDB926387}"/>
              </a:ext>
            </a:extLst>
          </p:cNvPr>
          <p:cNvSpPr txBox="1"/>
          <p:nvPr/>
        </p:nvSpPr>
        <p:spPr>
          <a:xfrm>
            <a:off x="9197693" y="2735604"/>
            <a:ext cx="2993513" cy="7441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kern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包装物流信息：</a:t>
            </a:r>
            <a:endParaRPr lang="en-US" altLang="zh-CN" sz="1400" b="1" kern="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物流：送货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DHAC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→客户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4572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包装：使用通用折叠金属铁框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227252EB-6A29-E0D3-D748-C220504FF219}"/>
              </a:ext>
            </a:extLst>
          </p:cNvPr>
          <p:cNvGrpSpPr/>
          <p:nvPr/>
        </p:nvGrpSpPr>
        <p:grpSpPr>
          <a:xfrm>
            <a:off x="9197693" y="705427"/>
            <a:ext cx="2688713" cy="1978185"/>
            <a:chOff x="8646187" y="704230"/>
            <a:chExt cx="2688713" cy="1978185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E733637F-8D4E-5C17-6D3D-FBC6F8E67267}"/>
                </a:ext>
              </a:extLst>
            </p:cNvPr>
            <p:cNvGrpSpPr/>
            <p:nvPr/>
          </p:nvGrpSpPr>
          <p:grpSpPr>
            <a:xfrm>
              <a:off x="8646187" y="704230"/>
              <a:ext cx="2688713" cy="1978185"/>
              <a:chOff x="9364852" y="838200"/>
              <a:chExt cx="2688713" cy="1978185"/>
            </a:xfrm>
          </p:grpSpPr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58F143D6-6CE6-4C77-5904-8DA1B7B169CE}"/>
                  </a:ext>
                </a:extLst>
              </p:cNvPr>
              <p:cNvSpPr txBox="1"/>
              <p:nvPr/>
            </p:nvSpPr>
            <p:spPr>
              <a:xfrm>
                <a:off x="9364852" y="883096"/>
                <a:ext cx="268871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出荷</a:t>
                </a:r>
                <a:r>
                  <a:rPr lang="en-US" altLang="zh-CN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-&gt;</a:t>
                </a:r>
                <a:r>
                  <a:rPr lang="zh-CN" altLang="en-US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上线仕样</a:t>
                </a: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F650748E-7899-989F-D8EC-BF387C1B1227}"/>
                  </a:ext>
                </a:extLst>
              </p:cNvPr>
              <p:cNvSpPr/>
              <p:nvPr/>
            </p:nvSpPr>
            <p:spPr bwMode="auto">
              <a:xfrm>
                <a:off x="9364852" y="838200"/>
                <a:ext cx="2660524" cy="1978185"/>
              </a:xfrm>
              <a:prstGeom prst="rect">
                <a:avLst/>
              </a:prstGeom>
              <a:noFill/>
              <a:ln w="2857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316CA123-8D3F-B8D7-4EE1-150093418855}"/>
                  </a:ext>
                </a:extLst>
              </p:cNvPr>
              <p:cNvSpPr txBox="1"/>
              <p:nvPr/>
            </p:nvSpPr>
            <p:spPr>
              <a:xfrm>
                <a:off x="9504161" y="2186905"/>
                <a:ext cx="1050839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通用金属铁框</a:t>
                </a:r>
              </a:p>
            </p:txBody>
          </p:sp>
          <p:sp>
            <p:nvSpPr>
              <p:cNvPr id="53" name="右箭头 7">
                <a:extLst>
                  <a:ext uri="{FF2B5EF4-FFF2-40B4-BE49-F238E27FC236}">
                    <a16:creationId xmlns:a16="http://schemas.microsoft.com/office/drawing/2014/main" id="{7D66E8DB-5272-001C-D122-7938FF9FB98E}"/>
                  </a:ext>
                </a:extLst>
              </p:cNvPr>
              <p:cNvSpPr/>
              <p:nvPr/>
            </p:nvSpPr>
            <p:spPr>
              <a:xfrm>
                <a:off x="10562618" y="1476235"/>
                <a:ext cx="293183" cy="310636"/>
              </a:xfrm>
              <a:prstGeom prst="rightArrow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54" name="图片 53">
                <a:extLst>
                  <a:ext uri="{FF2B5EF4-FFF2-40B4-BE49-F238E27FC236}">
                    <a16:creationId xmlns:a16="http://schemas.microsoft.com/office/drawing/2014/main" id="{C701802A-D421-8517-8F5D-4A2BADA4494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2" t="13333"/>
              <a:stretch/>
            </p:blipFill>
            <p:spPr>
              <a:xfrm>
                <a:off x="9468317" y="1270617"/>
                <a:ext cx="984521" cy="854871"/>
              </a:xfrm>
              <a:prstGeom prst="rect">
                <a:avLst/>
              </a:prstGeom>
            </p:spPr>
          </p:pic>
          <p:pic>
            <p:nvPicPr>
              <p:cNvPr id="55" name="图片 54">
                <a:extLst>
                  <a:ext uri="{FF2B5EF4-FFF2-40B4-BE49-F238E27FC236}">
                    <a16:creationId xmlns:a16="http://schemas.microsoft.com/office/drawing/2014/main" id="{09C26B8B-A61D-91E6-1CF9-F21B3E850BD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2" t="13333"/>
              <a:stretch/>
            </p:blipFill>
            <p:spPr>
              <a:xfrm>
                <a:off x="10896946" y="1274688"/>
                <a:ext cx="984521" cy="854871"/>
              </a:xfrm>
              <a:prstGeom prst="rect">
                <a:avLst/>
              </a:prstGeom>
            </p:spPr>
          </p:pic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4C5B49AC-41CA-7A46-2F65-07935A523CA9}"/>
                  </a:ext>
                </a:extLst>
              </p:cNvPr>
              <p:cNvSpPr txBox="1"/>
              <p:nvPr/>
            </p:nvSpPr>
            <p:spPr>
              <a:xfrm>
                <a:off x="10861912" y="2186905"/>
                <a:ext cx="1050839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岚图通用金属铁框</a:t>
                </a: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6690B532-2F1E-DBBA-3691-5FD8DE9229A5}"/>
                  </a:ext>
                </a:extLst>
              </p:cNvPr>
              <p:cNvSpPr txBox="1"/>
              <p:nvPr/>
            </p:nvSpPr>
            <p:spPr>
              <a:xfrm>
                <a:off x="10896946" y="2186905"/>
                <a:ext cx="1050839" cy="4616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通用金属铁框</a:t>
                </a:r>
              </a:p>
            </p:txBody>
          </p:sp>
        </p:grpSp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4D28C54D-DAE0-4517-0C08-B53D81104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30204" y="1109338"/>
              <a:ext cx="1073576" cy="890145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CA055C78-374A-6B76-0663-EE347932A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29670" y="1110626"/>
              <a:ext cx="1073576" cy="9094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4906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8C0F0-1BF7-B888-5AED-5AD332751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8">
            <a:extLst>
              <a:ext uri="{FF2B5EF4-FFF2-40B4-BE49-F238E27FC236}">
                <a16:creationId xmlns:a16="http://schemas.microsoft.com/office/drawing/2014/main" id="{A3040DBB-66CD-6A13-2D24-E29706ACD1E9}"/>
              </a:ext>
            </a:extLst>
          </p:cNvPr>
          <p:cNvSpPr txBox="1">
            <a:spLocks/>
          </p:cNvSpPr>
          <p:nvPr/>
        </p:nvSpPr>
        <p:spPr bwMode="auto">
          <a:xfrm>
            <a:off x="-30364" y="6498000"/>
            <a:ext cx="12190413" cy="360000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连杆捆包成本为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.24</a:t>
            </a:r>
            <a:r>
              <a: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FDEE7BD4-7F36-2E92-9966-660FCFCF60BE}"/>
              </a:ext>
            </a:extLst>
          </p:cNvPr>
          <p:cNvSpPr txBox="1">
            <a:spLocks/>
          </p:cNvSpPr>
          <p:nvPr/>
        </p:nvSpPr>
        <p:spPr>
          <a:xfrm>
            <a:off x="456406" y="152400"/>
            <a:ext cx="63246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连杆捆包成本检讨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BB349E7-29F1-A43A-2583-24ABCFD621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914469"/>
              </p:ext>
            </p:extLst>
          </p:nvPr>
        </p:nvGraphicFramePr>
        <p:xfrm>
          <a:off x="989806" y="609600"/>
          <a:ext cx="10011660" cy="586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1658704" imgH="6832646" progId="Excel.Sheet.12">
                  <p:embed/>
                </p:oleObj>
              </mc:Choice>
              <mc:Fallback>
                <p:oleObj name="Worksheet" r:id="rId3" imgW="11658704" imgH="683264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9806" y="609600"/>
                        <a:ext cx="10011660" cy="586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0697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F1C0C-FB97-0CDE-4E1A-62530D7C3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775DC21C-BE41-FE9D-E565-575DD6921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247" y="89350"/>
            <a:ext cx="8610600" cy="381000"/>
          </a:xfrm>
        </p:spPr>
        <p:txBody>
          <a:bodyPr/>
          <a:lstStyle/>
          <a:p>
            <a:r>
              <a:rPr lang="zh-CN" altLang="en-US" dirty="0"/>
              <a:t>运输方案建议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2BB96F-9B2D-373C-12A0-8D196DB08969}"/>
              </a:ext>
            </a:extLst>
          </p:cNvPr>
          <p:cNvSpPr txBox="1">
            <a:spLocks/>
          </p:cNvSpPr>
          <p:nvPr/>
        </p:nvSpPr>
        <p:spPr bwMode="auto">
          <a:xfrm>
            <a:off x="284174" y="5485885"/>
            <a:ext cx="329643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kern="0" dirty="0">
                <a:solidFill>
                  <a:srgbClr val="000000"/>
                </a:solidFill>
              </a:rPr>
              <a:t>运输建议：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0162B6D9-F65C-73B5-A0CF-7EC6C4851DD0}"/>
              </a:ext>
            </a:extLst>
          </p:cNvPr>
          <p:cNvSpPr txBox="1">
            <a:spLocks/>
          </p:cNvSpPr>
          <p:nvPr/>
        </p:nvSpPr>
        <p:spPr bwMode="auto">
          <a:xfrm>
            <a:off x="544174" y="5749460"/>
            <a:ext cx="6781800" cy="879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0" kern="0" dirty="0">
                <a:solidFill>
                  <a:srgbClr val="000000"/>
                </a:solidFill>
              </a:rPr>
              <a:t>公路：</a:t>
            </a:r>
            <a:r>
              <a:rPr lang="en-US" altLang="zh-CN" sz="2000" b="0" kern="0" dirty="0">
                <a:solidFill>
                  <a:srgbClr val="000000"/>
                </a:solidFill>
              </a:rPr>
              <a:t>DHAC</a:t>
            </a:r>
            <a:r>
              <a:rPr lang="en-US" altLang="zh-CN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000" b="0" kern="0" dirty="0">
                <a:solidFill>
                  <a:srgbClr val="000000"/>
                </a:solidFill>
                <a:sym typeface="Wingdings" panose="05000000000000000000" pitchFamily="2" charset="2"/>
              </a:rPr>
              <a:t>重庆长寿区（直达客户，不设中转库）</a:t>
            </a:r>
            <a:endParaRPr lang="zh-CN" altLang="en-US" sz="2000" b="0" kern="0" dirty="0">
              <a:solidFill>
                <a:srgbClr val="000000"/>
              </a:solidFill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A77A861C-E4B5-94A2-FB6A-48092401EEFA}"/>
              </a:ext>
            </a:extLst>
          </p:cNvPr>
          <p:cNvSpPr txBox="1"/>
          <p:nvPr/>
        </p:nvSpPr>
        <p:spPr>
          <a:xfrm>
            <a:off x="284174" y="810985"/>
            <a:ext cx="70182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年工作日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天，月工作日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20.5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月量产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0EC24D8-7876-23D4-E04A-0133E45029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8921873"/>
              </p:ext>
            </p:extLst>
          </p:nvPr>
        </p:nvGraphicFramePr>
        <p:xfrm>
          <a:off x="540816" y="1409700"/>
          <a:ext cx="1149985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1499876" imgH="1790561" progId="Excel.Sheet.12">
                  <p:embed/>
                </p:oleObj>
              </mc:Choice>
              <mc:Fallback>
                <p:oleObj name="Worksheet" r:id="rId3" imgW="11499876" imgH="17905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0816" y="1409700"/>
                        <a:ext cx="11499850" cy="179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466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/>
              <a:t>6</a:t>
            </a:fld>
            <a:endParaRPr lang="en-US" altLang="zh-CN"/>
          </a:p>
        </p:txBody>
      </p:sp>
      <p:pic>
        <p:nvPicPr>
          <p:cNvPr id="7065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95"/>
          <a:stretch>
            <a:fillRect/>
          </a:stretch>
        </p:blipFill>
        <p:spPr bwMode="auto">
          <a:xfrm>
            <a:off x="0" y="2527935"/>
            <a:ext cx="12195810" cy="4330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0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1" r="8778"/>
          <a:stretch>
            <a:fillRect/>
          </a:stretch>
        </p:blipFill>
        <p:spPr bwMode="auto">
          <a:xfrm>
            <a:off x="5104765" y="5181600"/>
            <a:ext cx="6638925" cy="152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4842821" y="2057227"/>
            <a:ext cx="251079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 </a:t>
            </a:r>
            <a:r>
              <a:rPr lang="en-US" altLang="zh-CN" sz="66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6600" b="1" spc="3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</a:t>
            </a:r>
            <a:endParaRPr lang="zh-CN" altLang="en-US" sz="6600" b="1" dirty="0">
              <a:solidFill>
                <a:srgbClr val="E5001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资源 3-恢复的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59715" y="3728085"/>
            <a:ext cx="4613910" cy="2653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57AA0B3-6D91-5729-D1C4-749C363F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7</a:t>
            </a:fld>
            <a:endParaRPr lang="en-US" altLang="zh-CN"/>
          </a:p>
        </p:txBody>
      </p:sp>
      <p:sp useBgFill="1">
        <p:nvSpPr>
          <p:cNvPr id="4" name="Rectangle 9">
            <a:extLst>
              <a:ext uri="{FF2B5EF4-FFF2-40B4-BE49-F238E27FC236}">
                <a16:creationId xmlns:a16="http://schemas.microsoft.com/office/drawing/2014/main" id="{120B82F8-4B67-27DE-5EE1-7715832DD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73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78C4F0DE-BCD2-CA41-18E9-65819EED6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006" y="612574"/>
            <a:ext cx="9012679" cy="3019247"/>
          </a:xfrm>
          <a:prstGeom prst="rect">
            <a:avLst/>
          </a:prstGeom>
        </p:spPr>
      </p:pic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090052E3-1968-275B-1BBD-C7BB26BACED8}"/>
              </a:ext>
            </a:extLst>
          </p:cNvPr>
          <p:cNvSpPr txBox="1">
            <a:spLocks/>
          </p:cNvSpPr>
          <p:nvPr/>
        </p:nvSpPr>
        <p:spPr bwMode="auto">
          <a:xfrm>
            <a:off x="8609478" y="6356350"/>
            <a:ext cx="2742843" cy="365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FD87BCED-6C00-41A0-9FAE-AC08F0FDD3AD}" type="slidenum">
              <a:rPr lang="en-US" altLang="zh-CN" sz="1900" smtClean="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altLang="zh-CN" sz="1900"/>
          </a:p>
        </p:txBody>
      </p:sp>
      <p:sp>
        <p:nvSpPr>
          <p:cNvPr id="7" name="标注: 线形(带强调线) 6">
            <a:extLst>
              <a:ext uri="{FF2B5EF4-FFF2-40B4-BE49-F238E27FC236}">
                <a16:creationId xmlns:a16="http://schemas.microsoft.com/office/drawing/2014/main" id="{99E0FBAE-921F-66D5-BA9F-99E27D86D1AF}"/>
              </a:ext>
            </a:extLst>
          </p:cNvPr>
          <p:cNvSpPr/>
          <p:nvPr/>
        </p:nvSpPr>
        <p:spPr bwMode="auto">
          <a:xfrm>
            <a:off x="9466626" y="-381000"/>
            <a:ext cx="2114979" cy="612574"/>
          </a:xfrm>
          <a:prstGeom prst="accentCallout1">
            <a:avLst>
              <a:gd name="adj1" fmla="val 18750"/>
              <a:gd name="adj2" fmla="val -8333"/>
              <a:gd name="adj3" fmla="val 370740"/>
              <a:gd name="adj4" fmla="val -23633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脉冲版外径</a:t>
            </a:r>
          </a:p>
        </p:txBody>
      </p:sp>
      <p:pic>
        <p:nvPicPr>
          <p:cNvPr id="8" name="图片 7" descr="图示, 工程绘图&#10;&#10;AI 生成的内容可能不正确。">
            <a:extLst>
              <a:ext uri="{FF2B5EF4-FFF2-40B4-BE49-F238E27FC236}">
                <a16:creationId xmlns:a16="http://schemas.microsoft.com/office/drawing/2014/main" id="{CDAFCE35-8C7A-98E3-F0AC-03105CE8F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347" y="3892250"/>
            <a:ext cx="8479279" cy="2829225"/>
          </a:xfrm>
          <a:prstGeom prst="rect">
            <a:avLst/>
          </a:prstGeom>
        </p:spPr>
      </p:pic>
      <p:sp>
        <p:nvSpPr>
          <p:cNvPr id="9" name="标注: 线形(带强调线) 8">
            <a:extLst>
              <a:ext uri="{FF2B5EF4-FFF2-40B4-BE49-F238E27FC236}">
                <a16:creationId xmlns:a16="http://schemas.microsoft.com/office/drawing/2014/main" id="{7378119D-4577-21D5-489A-F51357369E88}"/>
              </a:ext>
            </a:extLst>
          </p:cNvPr>
          <p:cNvSpPr/>
          <p:nvPr/>
        </p:nvSpPr>
        <p:spPr bwMode="auto">
          <a:xfrm>
            <a:off x="9905206" y="4043257"/>
            <a:ext cx="2114979" cy="612574"/>
          </a:xfrm>
          <a:prstGeom prst="accentCallout1">
            <a:avLst>
              <a:gd name="adj1" fmla="val 18750"/>
              <a:gd name="adj2" fmla="val -8333"/>
              <a:gd name="adj3" fmla="val 146832"/>
              <a:gd name="adj4" fmla="val -327139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轴承外径</a:t>
            </a:r>
          </a:p>
        </p:txBody>
      </p:sp>
      <p:sp>
        <p:nvSpPr>
          <p:cNvPr id="10" name="标注: 线形(带强调线) 9">
            <a:extLst>
              <a:ext uri="{FF2B5EF4-FFF2-40B4-BE49-F238E27FC236}">
                <a16:creationId xmlns:a16="http://schemas.microsoft.com/office/drawing/2014/main" id="{83626769-41C8-9A0A-8BF9-B9EF2F28D95F}"/>
              </a:ext>
            </a:extLst>
          </p:cNvPr>
          <p:cNvSpPr/>
          <p:nvPr/>
        </p:nvSpPr>
        <p:spPr bwMode="auto">
          <a:xfrm>
            <a:off x="9904412" y="4843154"/>
            <a:ext cx="2114979" cy="612574"/>
          </a:xfrm>
          <a:prstGeom prst="accentCallout1">
            <a:avLst>
              <a:gd name="adj1" fmla="val 18750"/>
              <a:gd name="adj2" fmla="val -8333"/>
              <a:gd name="adj3" fmla="val 30400"/>
              <a:gd name="adj4" fmla="val -175386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脉冲版外径</a:t>
            </a:r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D3BB2B89-DE2A-0C94-BB9C-983106FE1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</a:t>
            </a:r>
            <a:r>
              <a:rPr lang="zh-CN" altLang="en-US" dirty="0"/>
              <a:t>凸轮轴</a:t>
            </a:r>
          </a:p>
        </p:txBody>
      </p:sp>
    </p:spTree>
    <p:extLst>
      <p:ext uri="{BB962C8B-B14F-4D97-AF65-F5344CB8AC3E}">
        <p14:creationId xmlns:p14="http://schemas.microsoft.com/office/powerpoint/2010/main" val="618191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89AC1-D2A8-CF54-A7E4-E8E9F9E24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046F105-47FD-1D9F-1F2B-6EA80A804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8</a:t>
            </a:fld>
            <a:endParaRPr lang="en-US" altLang="zh-CN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73FBCD2-54EB-300A-B146-948B7DEA1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62" y="1571366"/>
            <a:ext cx="10850489" cy="3715268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AE4F63E7-A4EF-66E7-CF0F-97AD8F146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62" y="1571366"/>
            <a:ext cx="10850489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29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19522-5526-3E0A-3AD9-FEC558B16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6NB</a:t>
            </a:r>
            <a:r>
              <a:rPr lang="zh-CN" altLang="en-US" dirty="0"/>
              <a:t>模板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C4F88DF-7094-E7D3-0824-28A6A7AF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9</a:t>
            </a:fld>
            <a:endParaRPr lang="en-US" altLang="zh-CN"/>
          </a:p>
        </p:txBody>
      </p:sp>
      <p:pic>
        <p:nvPicPr>
          <p:cNvPr id="7" name="图片 6" descr="图片包含 桌子, 建筑, 片, 键盘&#10;&#10;AI 生成的内容可能不正确。">
            <a:extLst>
              <a:ext uri="{FF2B5EF4-FFF2-40B4-BE49-F238E27FC236}">
                <a16:creationId xmlns:a16="http://schemas.microsoft.com/office/drawing/2014/main" id="{A995FF4A-26E0-EE67-A31B-73F253EB63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2" y="1721721"/>
            <a:ext cx="5202294" cy="2340575"/>
          </a:xfrm>
          <a:prstGeom prst="rect">
            <a:avLst/>
          </a:prstGeom>
        </p:spPr>
      </p:pic>
      <p:pic>
        <p:nvPicPr>
          <p:cNvPr id="9" name="图片 8" descr="地上的手&#10;&#10;AI 生成的内容可能不正确。">
            <a:extLst>
              <a:ext uri="{FF2B5EF4-FFF2-40B4-BE49-F238E27FC236}">
                <a16:creationId xmlns:a16="http://schemas.microsoft.com/office/drawing/2014/main" id="{AC09EDA6-EF26-A4C4-8989-8DED89A046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095" y="4886021"/>
            <a:ext cx="3352007" cy="1508109"/>
          </a:xfrm>
          <a:prstGeom prst="rect">
            <a:avLst/>
          </a:prstGeom>
        </p:spPr>
      </p:pic>
      <p:pic>
        <p:nvPicPr>
          <p:cNvPr id="11" name="图片 10" descr="图片包含 器具, 室内, 缝纫机, 水槽&#10;&#10;AI 生成的内容可能不正确。">
            <a:extLst>
              <a:ext uri="{FF2B5EF4-FFF2-40B4-BE49-F238E27FC236}">
                <a16:creationId xmlns:a16="http://schemas.microsoft.com/office/drawing/2014/main" id="{D7A48556-9A18-8489-14FE-0B75B4DEC5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398" y="4886021"/>
            <a:ext cx="3352008" cy="1508109"/>
          </a:xfrm>
          <a:prstGeom prst="rect">
            <a:avLst/>
          </a:prstGeom>
        </p:spPr>
      </p:pic>
      <p:pic>
        <p:nvPicPr>
          <p:cNvPr id="13" name="图片 12" descr="图片包含 室内, 水槽, 盒子, 打开&#10;&#10;AI 生成的内容可能不正确。">
            <a:extLst>
              <a:ext uri="{FF2B5EF4-FFF2-40B4-BE49-F238E27FC236}">
                <a16:creationId xmlns:a16="http://schemas.microsoft.com/office/drawing/2014/main" id="{D92E9FA4-5D4F-D528-2B1B-638B957630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3" y="4375908"/>
            <a:ext cx="5202294" cy="2340575"/>
          </a:xfrm>
          <a:prstGeom prst="rect">
            <a:avLst/>
          </a:prstGeom>
        </p:spPr>
      </p:pic>
      <p:pic>
        <p:nvPicPr>
          <p:cNvPr id="15" name="图片 14" descr="建筑的摆设布局&#10;&#10;AI 生成的内容可能不正确。">
            <a:extLst>
              <a:ext uri="{FF2B5EF4-FFF2-40B4-BE49-F238E27FC236}">
                <a16:creationId xmlns:a16="http://schemas.microsoft.com/office/drawing/2014/main" id="{F02BDF80-04D2-F75E-4BD6-4F4FFCD2287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354" y="1747954"/>
            <a:ext cx="5682103" cy="2557346"/>
          </a:xfrm>
          <a:prstGeom prst="rect">
            <a:avLst/>
          </a:prstGeom>
        </p:spPr>
      </p:pic>
      <p:sp>
        <p:nvSpPr>
          <p:cNvPr id="16" name="左大括号 15">
            <a:extLst>
              <a:ext uri="{FF2B5EF4-FFF2-40B4-BE49-F238E27FC236}">
                <a16:creationId xmlns:a16="http://schemas.microsoft.com/office/drawing/2014/main" id="{9B761CBA-E8C5-A65E-CEA9-557D964DBD1D}"/>
              </a:ext>
            </a:extLst>
          </p:cNvPr>
          <p:cNvSpPr/>
          <p:nvPr/>
        </p:nvSpPr>
        <p:spPr bwMode="auto">
          <a:xfrm rot="5400000">
            <a:off x="8836083" y="2055078"/>
            <a:ext cx="1376244" cy="762000"/>
          </a:xfrm>
          <a:prstGeom prst="leftBrace">
            <a:avLst>
              <a:gd name="adj1" fmla="val 4033"/>
              <a:gd name="adj2" fmla="val 5000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CF0D50-EB3B-1EB4-5446-507748E3A508}"/>
              </a:ext>
            </a:extLst>
          </p:cNvPr>
          <p:cNvSpPr txBox="1"/>
          <p:nvPr/>
        </p:nvSpPr>
        <p:spPr>
          <a:xfrm>
            <a:off x="8761095" y="802367"/>
            <a:ext cx="29183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单槽宽度</a:t>
            </a:r>
            <a:r>
              <a:rPr lang="en-US" altLang="zh-CN" sz="1600" dirty="0"/>
              <a:t>55mm</a:t>
            </a:r>
            <a:r>
              <a:rPr lang="zh-CN" altLang="en-US" sz="1600" dirty="0"/>
              <a:t>，大于轴承外径</a:t>
            </a:r>
            <a:r>
              <a:rPr lang="en-US" altLang="zh-CN" sz="1600" dirty="0"/>
              <a:t>52mm</a:t>
            </a:r>
            <a:r>
              <a:rPr lang="zh-CN" altLang="en-US" sz="1600" dirty="0"/>
              <a:t>和脉冲板外径</a:t>
            </a:r>
            <a:r>
              <a:rPr lang="en-US" altLang="zh-CN" sz="1600" dirty="0"/>
              <a:t>51mm</a:t>
            </a:r>
            <a:r>
              <a:rPr lang="zh-CN" altLang="en-US" sz="1600" dirty="0"/>
              <a:t>，初步判断凸轮轴之间无磕碰</a:t>
            </a:r>
          </a:p>
        </p:txBody>
      </p:sp>
      <p:sp>
        <p:nvSpPr>
          <p:cNvPr id="20" name="左大括号 19">
            <a:extLst>
              <a:ext uri="{FF2B5EF4-FFF2-40B4-BE49-F238E27FC236}">
                <a16:creationId xmlns:a16="http://schemas.microsoft.com/office/drawing/2014/main" id="{600E5142-2C6C-48BC-87C7-AE7E89407DF3}"/>
              </a:ext>
            </a:extLst>
          </p:cNvPr>
          <p:cNvSpPr/>
          <p:nvPr/>
        </p:nvSpPr>
        <p:spPr bwMode="auto">
          <a:xfrm rot="5400000">
            <a:off x="2127597" y="569344"/>
            <a:ext cx="1077218" cy="3352800"/>
          </a:xfrm>
          <a:prstGeom prst="leftBrace">
            <a:avLst>
              <a:gd name="adj1" fmla="val 4033"/>
              <a:gd name="adj2" fmla="val 5000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B06226-9BCD-4BF7-0165-15075B63B81A}"/>
              </a:ext>
            </a:extLst>
          </p:cNvPr>
          <p:cNvSpPr txBox="1"/>
          <p:nvPr/>
        </p:nvSpPr>
        <p:spPr>
          <a:xfrm>
            <a:off x="1675606" y="685800"/>
            <a:ext cx="29183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单槽长度</a:t>
            </a:r>
            <a:r>
              <a:rPr lang="en-US" altLang="zh-CN" sz="1600" dirty="0"/>
              <a:t>430mm</a:t>
            </a:r>
            <a:r>
              <a:rPr lang="zh-CN" altLang="en-US" sz="1600" dirty="0"/>
              <a:t>，大于凸轮轴</a:t>
            </a:r>
            <a:r>
              <a:rPr lang="en-US" altLang="zh-CN" sz="1600" dirty="0"/>
              <a:t>IN</a:t>
            </a:r>
            <a:r>
              <a:rPr lang="zh-CN" altLang="en-US" sz="1600" dirty="0"/>
              <a:t>长度</a:t>
            </a:r>
            <a:r>
              <a:rPr lang="en-US" altLang="zh-CN" sz="1600" dirty="0"/>
              <a:t>421mm</a:t>
            </a:r>
            <a:r>
              <a:rPr lang="zh-CN" altLang="en-US" sz="1600" dirty="0"/>
              <a:t>和凸轮轴</a:t>
            </a:r>
            <a:r>
              <a:rPr lang="en-US" altLang="zh-CN" sz="1600" dirty="0"/>
              <a:t>EX</a:t>
            </a:r>
            <a:r>
              <a:rPr lang="zh-CN" altLang="en-US" sz="1600" dirty="0"/>
              <a:t>长度</a:t>
            </a:r>
            <a:r>
              <a:rPr lang="en-US" altLang="zh-CN" sz="1600" dirty="0"/>
              <a:t>363mm</a:t>
            </a:r>
            <a:r>
              <a:rPr lang="zh-CN" altLang="en-US" sz="1600" dirty="0"/>
              <a:t>，初步判断</a:t>
            </a:r>
            <a:r>
              <a:rPr lang="en-US" altLang="zh-CN" sz="1600" dirty="0"/>
              <a:t>6NB</a:t>
            </a:r>
            <a:r>
              <a:rPr lang="zh-CN" altLang="en-US" sz="1600" dirty="0"/>
              <a:t>凸轮轴模板长度够用</a:t>
            </a:r>
          </a:p>
        </p:txBody>
      </p:sp>
    </p:spTree>
    <p:extLst>
      <p:ext uri="{BB962C8B-B14F-4D97-AF65-F5344CB8AC3E}">
        <p14:creationId xmlns:p14="http://schemas.microsoft.com/office/powerpoint/2010/main" val="3682897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C3313-5BAC-ED34-5EF9-F4795B836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5MS</a:t>
            </a:r>
            <a:r>
              <a:rPr lang="zh-CN" altLang="en-US" dirty="0"/>
              <a:t>凸轮轴模板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23BB64E-71E5-2D46-F619-A367B65D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10</a:t>
            </a:fld>
            <a:endParaRPr lang="en-US" alt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2781BC-3460-F2E4-E3CA-D13CF3A8293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0" r="6916"/>
          <a:stretch/>
        </p:blipFill>
        <p:spPr>
          <a:xfrm>
            <a:off x="2056606" y="1329552"/>
            <a:ext cx="7390298" cy="5337948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A8DCF7AC-1BFE-7121-1A01-80B451AFD57E}"/>
              </a:ext>
            </a:extLst>
          </p:cNvPr>
          <p:cNvSpPr/>
          <p:nvPr/>
        </p:nvSpPr>
        <p:spPr bwMode="auto">
          <a:xfrm>
            <a:off x="2319043" y="4114800"/>
            <a:ext cx="457200" cy="5334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E4CC6ED-43D3-6A74-BC9B-D4E613024A34}"/>
              </a:ext>
            </a:extLst>
          </p:cNvPr>
          <p:cNvSpPr/>
          <p:nvPr/>
        </p:nvSpPr>
        <p:spPr bwMode="auto">
          <a:xfrm>
            <a:off x="5294555" y="4114800"/>
            <a:ext cx="457200" cy="4572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666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B1E643E-2321-DCDB-19D9-38D6EFBDE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ABBDE-4565-4A63-71EF-A1380FD16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03548E-9E20-2A3E-63F5-A94EBB983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87BCED-6C00-41A0-9FAE-AC08F0FDD3AD}" type="slidenum">
              <a:rPr lang="en-US" altLang="zh-CN" smtClean="0"/>
              <a:t>11</a:t>
            </a:fld>
            <a:endParaRPr lang="en-US" altLang="zh-CN"/>
          </a:p>
        </p:txBody>
      </p:sp>
      <p:pic>
        <p:nvPicPr>
          <p:cNvPr id="7" name="图片 6" descr="图形用户界面, 图示&#10;&#10;AI 生成的内容可能不正确。">
            <a:extLst>
              <a:ext uri="{FF2B5EF4-FFF2-40B4-BE49-F238E27FC236}">
                <a16:creationId xmlns:a16="http://schemas.microsoft.com/office/drawing/2014/main" id="{6C11D10A-1870-EBEE-8C87-7E1896602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63" y="1256997"/>
            <a:ext cx="5501444" cy="2202510"/>
          </a:xfrm>
          <a:prstGeom prst="rect">
            <a:avLst/>
          </a:prstGeom>
        </p:spPr>
      </p:pic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C61AC384-578D-2EAD-A241-51694C249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162" y="1752600"/>
            <a:ext cx="5210902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6719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WM1MjI3Yjc2ZjZlYmZiYTIwNjFkYzk5MzA1MDczMm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819,&quot;width&quot;:1920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406,&quot;width&quot;:1045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285,&quot;width&quot;:5713}"/>
</p:tagLst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1846</TotalTime>
  <Words>367</Words>
  <Application>Microsoft Office PowerPoint</Application>
  <PresentationFormat>自定义</PresentationFormat>
  <Paragraphs>83</Paragraphs>
  <Slides>11</Slides>
  <Notes>3</Notes>
  <HiddenSlides>5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宋体</vt:lpstr>
      <vt:lpstr>微软雅黑</vt:lpstr>
      <vt:lpstr>Arial</vt:lpstr>
      <vt:lpstr>Calibri</vt:lpstr>
      <vt:lpstr>Wingdings</vt:lpstr>
      <vt:lpstr>Office 主题</vt:lpstr>
      <vt:lpstr>1_Office 主题</vt:lpstr>
      <vt:lpstr>Worksheet</vt:lpstr>
      <vt:lpstr>PowerPoint 演示文稿</vt:lpstr>
      <vt:lpstr>检讨依赖</vt:lpstr>
      <vt:lpstr>PowerPoint 演示文稿</vt:lpstr>
      <vt:lpstr>PowerPoint 演示文稿</vt:lpstr>
      <vt:lpstr>运输方案建议</vt:lpstr>
      <vt:lpstr>PowerPoint 演示文稿</vt:lpstr>
      <vt:lpstr>IN凸轮轴</vt:lpstr>
      <vt:lpstr>PowerPoint 演示文稿</vt:lpstr>
      <vt:lpstr>6NB模板</vt:lpstr>
      <vt:lpstr>5MS凸轮轴模板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office</cp:lastModifiedBy>
  <cp:revision>263</cp:revision>
  <cp:lastPrinted>2113-01-01T00:00:00Z</cp:lastPrinted>
  <dcterms:created xsi:type="dcterms:W3CDTF">2018-11-07T02:56:00Z</dcterms:created>
  <dcterms:modified xsi:type="dcterms:W3CDTF">2025-05-22T02:06:53Z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822A94F8AA72452DB9C145218CAE9CEB</vt:lpwstr>
  </property>
  <property fmtid="{D5CDD505-2E9C-101B-9397-08002B2CF9AE}" pid="4" name="KSOProductBuildVer">
    <vt:lpwstr>2052-11.1.0.12313</vt:lpwstr>
  </property>
</Properties>
</file>